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6" r:id="rId3"/>
    <p:sldId id="258" r:id="rId4"/>
    <p:sldId id="275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59" r:id="rId20"/>
  </p:sldIdLst>
  <p:sldSz cx="12192000" cy="6858000"/>
  <p:notesSz cx="6858000" cy="9144000"/>
  <p:embeddedFontLst>
    <p:embeddedFont>
      <p:font typeface="Book Antiqua" panose="02040602050305030304" pitchFamily="18" charset="0"/>
      <p:regular r:id="rId22"/>
      <p:bold r:id="rId23"/>
      <p:italic r:id="rId24"/>
      <p:boldItalic r:id="rId25"/>
    </p:embeddedFont>
    <p:embeddedFont>
      <p:font typeface="Lato Black" panose="020F0502020204030203" pitchFamily="34" charset="0"/>
      <p:bold r:id="rId26"/>
      <p:boldItalic r:id="rId27"/>
    </p:embeddedFont>
    <p:embeddedFont>
      <p:font typeface="Libre Baskerville" panose="020000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hOJMYRtMJHTmKh9+lTrbj+exko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A9584B-D3F3-4107-9CBF-5C64676890FB}" v="46" dt="2026-08-21T17:08:22.2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28" y="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21" Type="http://schemas.openxmlformats.org/officeDocument/2006/relationships/notesMaster" Target="notesMasters/notesMaster1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customschemas.google.com/relationships/presentationmetadata" Target="metadata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itha Reddy Guddeti" userId="d68e08f967258c21" providerId="LiveId" clId="{0E32DF5F-E55A-4BDA-9A0F-C61789000E9A}"/>
    <pc:docChg chg="custSel modSld">
      <pc:chgData name="Harshitha Reddy Guddeti" userId="d68e08f967258c21" providerId="LiveId" clId="{0E32DF5F-E55A-4BDA-9A0F-C61789000E9A}" dt="2026-08-21T17:07:48.263" v="556" actId="1076"/>
      <pc:docMkLst>
        <pc:docMk/>
      </pc:docMkLst>
      <pc:sldChg chg="modSp mod">
        <pc:chgData name="Harshitha Reddy Guddeti" userId="d68e08f967258c21" providerId="LiveId" clId="{0E32DF5F-E55A-4BDA-9A0F-C61789000E9A}" dt="2026-08-21T14:43:20.521" v="29" actId="20577"/>
        <pc:sldMkLst>
          <pc:docMk/>
          <pc:sldMk cId="0" sldId="260"/>
        </pc:sldMkLst>
        <pc:spChg chg="mod">
          <ac:chgData name="Harshitha Reddy Guddeti" userId="d68e08f967258c21" providerId="LiveId" clId="{0E32DF5F-E55A-4BDA-9A0F-C61789000E9A}" dt="2026-08-21T14:43:20.521" v="29" actId="20577"/>
          <ac:spMkLst>
            <pc:docMk/>
            <pc:sldMk cId="0" sldId="260"/>
            <ac:spMk id="104" creationId="{00000000-0000-0000-0000-000000000000}"/>
          </ac:spMkLst>
        </pc:spChg>
      </pc:sldChg>
      <pc:sldChg chg="delSp modSp mod">
        <pc:chgData name="Harshitha Reddy Guddeti" userId="d68e08f967258c21" providerId="LiveId" clId="{0E32DF5F-E55A-4BDA-9A0F-C61789000E9A}" dt="2026-08-21T15:28:19.678" v="141" actId="20577"/>
        <pc:sldMkLst>
          <pc:docMk/>
          <pc:sldMk cId="0" sldId="261"/>
        </pc:sldMkLst>
        <pc:spChg chg="mod">
          <ac:chgData name="Harshitha Reddy Guddeti" userId="d68e08f967258c21" providerId="LiveId" clId="{0E32DF5F-E55A-4BDA-9A0F-C61789000E9A}" dt="2026-08-21T14:44:15.315" v="35" actId="20577"/>
          <ac:spMkLst>
            <pc:docMk/>
            <pc:sldMk cId="0" sldId="261"/>
            <ac:spMk id="81" creationId="{10887F82-96A8-82D6-89BB-496FD329D108}"/>
          </ac:spMkLst>
        </pc:spChg>
        <pc:spChg chg="del">
          <ac:chgData name="Harshitha Reddy Guddeti" userId="d68e08f967258c21" providerId="LiveId" clId="{0E32DF5F-E55A-4BDA-9A0F-C61789000E9A}" dt="2026-08-21T14:43:56.655" v="30" actId="478"/>
          <ac:spMkLst>
            <pc:docMk/>
            <pc:sldMk cId="0" sldId="261"/>
            <ac:spMk id="83" creationId="{98BB1F6D-21C1-6D0B-89A4-72E3B6AF28C9}"/>
          </ac:spMkLst>
        </pc:spChg>
        <pc:spChg chg="mod">
          <ac:chgData name="Harshitha Reddy Guddeti" userId="d68e08f967258c21" providerId="LiveId" clId="{0E32DF5F-E55A-4BDA-9A0F-C61789000E9A}" dt="2026-08-21T15:21:49.088" v="39" actId="20577"/>
          <ac:spMkLst>
            <pc:docMk/>
            <pc:sldMk cId="0" sldId="261"/>
            <ac:spMk id="85" creationId="{E0913109-212B-33FB-889B-A01D082347FC}"/>
          </ac:spMkLst>
        </pc:spChg>
        <pc:spChg chg="mod">
          <ac:chgData name="Harshitha Reddy Guddeti" userId="d68e08f967258c21" providerId="LiveId" clId="{0E32DF5F-E55A-4BDA-9A0F-C61789000E9A}" dt="2026-08-21T15:28:19.678" v="141" actId="20577"/>
          <ac:spMkLst>
            <pc:docMk/>
            <pc:sldMk cId="0" sldId="261"/>
            <ac:spMk id="87" creationId="{793148BA-5D01-A64D-E826-E760969A7BB9}"/>
          </ac:spMkLst>
        </pc:spChg>
        <pc:spChg chg="mod">
          <ac:chgData name="Harshitha Reddy Guddeti" userId="d68e08f967258c21" providerId="LiveId" clId="{0E32DF5F-E55A-4BDA-9A0F-C61789000E9A}" dt="2026-08-21T15:23:42.357" v="53" actId="2711"/>
          <ac:spMkLst>
            <pc:docMk/>
            <pc:sldMk cId="0" sldId="261"/>
            <ac:spMk id="93" creationId="{852A94CE-2181-9057-AF5B-E942D85EE2C4}"/>
          </ac:spMkLst>
        </pc:spChg>
        <pc:spChg chg="mod">
          <ac:chgData name="Harshitha Reddy Guddeti" userId="d68e08f967258c21" providerId="LiveId" clId="{0E32DF5F-E55A-4BDA-9A0F-C61789000E9A}" dt="2026-08-21T15:24:53.089" v="59" actId="255"/>
          <ac:spMkLst>
            <pc:docMk/>
            <pc:sldMk cId="0" sldId="261"/>
            <ac:spMk id="95" creationId="{F4D175B9-60E9-6981-9BF0-C3BF7FEA111B}"/>
          </ac:spMkLst>
        </pc:spChg>
        <pc:spChg chg="mod">
          <ac:chgData name="Harshitha Reddy Guddeti" userId="d68e08f967258c21" providerId="LiveId" clId="{0E32DF5F-E55A-4BDA-9A0F-C61789000E9A}" dt="2026-08-21T15:25:34.616" v="85" actId="2711"/>
          <ac:spMkLst>
            <pc:docMk/>
            <pc:sldMk cId="0" sldId="261"/>
            <ac:spMk id="101" creationId="{BC7E11F0-49E9-AD1F-8507-3932B71116D3}"/>
          </ac:spMkLst>
        </pc:spChg>
        <pc:spChg chg="mod">
          <ac:chgData name="Harshitha Reddy Guddeti" userId="d68e08f967258c21" providerId="LiveId" clId="{0E32DF5F-E55A-4BDA-9A0F-C61789000E9A}" dt="2026-08-21T15:27:07.343" v="94" actId="1076"/>
          <ac:spMkLst>
            <pc:docMk/>
            <pc:sldMk cId="0" sldId="261"/>
            <ac:spMk id="103" creationId="{766D2B01-D351-4C9E-231B-E08834A68420}"/>
          </ac:spMkLst>
        </pc:spChg>
        <pc:spChg chg="mod">
          <ac:chgData name="Harshitha Reddy Guddeti" userId="d68e08f967258c21" providerId="LiveId" clId="{0E32DF5F-E55A-4BDA-9A0F-C61789000E9A}" dt="2026-08-21T15:26:32.966" v="91" actId="113"/>
          <ac:spMkLst>
            <pc:docMk/>
            <pc:sldMk cId="0" sldId="261"/>
            <ac:spMk id="111" creationId="{4DDD73B4-36B8-8818-5427-FBCAA92295F1}"/>
          </ac:spMkLst>
        </pc:spChg>
        <pc:spChg chg="mod">
          <ac:chgData name="Harshitha Reddy Guddeti" userId="d68e08f967258c21" providerId="LiveId" clId="{0E32DF5F-E55A-4BDA-9A0F-C61789000E9A}" dt="2026-08-21T15:27:01.182" v="93" actId="20577"/>
          <ac:spMkLst>
            <pc:docMk/>
            <pc:sldMk cId="0" sldId="261"/>
            <ac:spMk id="113" creationId="{A72025F5-F482-72FC-6EE4-14BBB41BE7FB}"/>
          </ac:spMkLst>
        </pc:spChg>
        <pc:spChg chg="mod">
          <ac:chgData name="Harshitha Reddy Guddeti" userId="d68e08f967258c21" providerId="LiveId" clId="{0E32DF5F-E55A-4BDA-9A0F-C61789000E9A}" dt="2026-08-21T15:27:45.684" v="122" actId="113"/>
          <ac:spMkLst>
            <pc:docMk/>
            <pc:sldMk cId="0" sldId="261"/>
            <ac:spMk id="119" creationId="{8C6C6E5D-933A-3F7C-B84E-63C724B0AD46}"/>
          </ac:spMkLst>
        </pc:spChg>
        <pc:spChg chg="mod">
          <ac:chgData name="Harshitha Reddy Guddeti" userId="d68e08f967258c21" providerId="LiveId" clId="{0E32DF5F-E55A-4BDA-9A0F-C61789000E9A}" dt="2026-08-21T15:28:00.208" v="123"/>
          <ac:spMkLst>
            <pc:docMk/>
            <pc:sldMk cId="0" sldId="261"/>
            <ac:spMk id="120" creationId="{A332F6EE-90E1-A734-A47B-73FA3FB9AB4F}"/>
          </ac:spMkLst>
        </pc:spChg>
      </pc:sldChg>
      <pc:sldChg chg="addSp delSp modSp mod">
        <pc:chgData name="Harshitha Reddy Guddeti" userId="d68e08f967258c21" providerId="LiveId" clId="{0E32DF5F-E55A-4BDA-9A0F-C61789000E9A}" dt="2026-08-21T15:35:08.067" v="220" actId="1076"/>
        <pc:sldMkLst>
          <pc:docMk/>
          <pc:sldMk cId="0" sldId="262"/>
        </pc:sldMkLst>
        <pc:graphicFrameChg chg="add del">
          <ac:chgData name="Harshitha Reddy Guddeti" userId="d68e08f967258c21" providerId="LiveId" clId="{0E32DF5F-E55A-4BDA-9A0F-C61789000E9A}" dt="2026-08-21T15:29:28.607" v="146" actId="21"/>
          <ac:graphicFrameMkLst>
            <pc:docMk/>
            <pc:sldMk cId="0" sldId="262"/>
            <ac:graphicFrameMk id="3" creationId="{2C7A23C1-D4B7-5B94-B49B-AE1439A80F62}"/>
          </ac:graphicFrameMkLst>
        </pc:graphicFrameChg>
        <pc:graphicFrameChg chg="add del mod modGraphic">
          <ac:chgData name="Harshitha Reddy Guddeti" userId="d68e08f967258c21" providerId="LiveId" clId="{0E32DF5F-E55A-4BDA-9A0F-C61789000E9A}" dt="2026-08-21T15:34:36.028" v="219" actId="21"/>
          <ac:graphicFrameMkLst>
            <pc:docMk/>
            <pc:sldMk cId="0" sldId="262"/>
            <ac:graphicFrameMk id="4" creationId="{2993CBB7-13F9-A7EF-30E4-1FC0A0558579}"/>
          </ac:graphicFrameMkLst>
        </pc:graphicFrameChg>
        <pc:graphicFrameChg chg="add del">
          <ac:chgData name="Harshitha Reddy Guddeti" userId="d68e08f967258c21" providerId="LiveId" clId="{0E32DF5F-E55A-4BDA-9A0F-C61789000E9A}" dt="2026-08-21T15:30:17.392" v="149" actId="21"/>
          <ac:graphicFrameMkLst>
            <pc:docMk/>
            <pc:sldMk cId="0" sldId="262"/>
            <ac:graphicFrameMk id="5" creationId="{50279309-9398-276D-0577-D2D9CF8B7BF2}"/>
          </ac:graphicFrameMkLst>
        </pc:graphicFrameChg>
        <pc:graphicFrameChg chg="add mod modGraphic">
          <ac:chgData name="Harshitha Reddy Guddeti" userId="d68e08f967258c21" providerId="LiveId" clId="{0E32DF5F-E55A-4BDA-9A0F-C61789000E9A}" dt="2026-08-21T15:35:08.067" v="220" actId="1076"/>
          <ac:graphicFrameMkLst>
            <pc:docMk/>
            <pc:sldMk cId="0" sldId="262"/>
            <ac:graphicFrameMk id="6" creationId="{8BF44EB4-FE26-731F-3C75-17BD33104113}"/>
          </ac:graphicFrameMkLst>
        </pc:graphicFrameChg>
        <pc:graphicFrameChg chg="del modGraphic">
          <ac:chgData name="Harshitha Reddy Guddeti" userId="d68e08f967258c21" providerId="LiveId" clId="{0E32DF5F-E55A-4BDA-9A0F-C61789000E9A}" dt="2026-08-21T15:29:05.282" v="144" actId="21"/>
          <ac:graphicFrameMkLst>
            <pc:docMk/>
            <pc:sldMk cId="0" sldId="262"/>
            <ac:graphicFrameMk id="8" creationId="{EA9D6AB6-33E4-F35C-26B5-98F32BD0E193}"/>
          </ac:graphicFrameMkLst>
        </pc:graphicFrameChg>
        <pc:graphicFrameChg chg="add del modGraphic">
          <ac:chgData name="Harshitha Reddy Guddeti" userId="d68e08f967258c21" providerId="LiveId" clId="{0E32DF5F-E55A-4BDA-9A0F-C61789000E9A}" dt="2026-08-21T15:34:13.617" v="217" actId="21"/>
          <ac:graphicFrameMkLst>
            <pc:docMk/>
            <pc:sldMk cId="0" sldId="262"/>
            <ac:graphicFrameMk id="9" creationId="{8F5138A7-F574-B2C8-3AB8-047A8E1479CA}"/>
          </ac:graphicFrameMkLst>
        </pc:graphicFrameChg>
      </pc:sldChg>
      <pc:sldChg chg="addSp delSp modSp mod">
        <pc:chgData name="Harshitha Reddy Guddeti" userId="d68e08f967258c21" providerId="LiveId" clId="{0E32DF5F-E55A-4BDA-9A0F-C61789000E9A}" dt="2026-08-21T16:23:19.224" v="414" actId="1076"/>
        <pc:sldMkLst>
          <pc:docMk/>
          <pc:sldMk cId="0" sldId="266"/>
        </pc:sldMkLst>
        <pc:picChg chg="add mod">
          <ac:chgData name="Harshitha Reddy Guddeti" userId="d68e08f967258c21" providerId="LiveId" clId="{0E32DF5F-E55A-4BDA-9A0F-C61789000E9A}" dt="2026-08-21T16:21:08.026" v="408" actId="1076"/>
          <ac:picMkLst>
            <pc:docMk/>
            <pc:sldMk cId="0" sldId="266"/>
            <ac:picMk id="3" creationId="{2BE98841-B257-C074-8910-FEC9B19D2516}"/>
          </ac:picMkLst>
        </pc:picChg>
        <pc:picChg chg="add mod">
          <ac:chgData name="Harshitha Reddy Guddeti" userId="d68e08f967258c21" providerId="LiveId" clId="{0E32DF5F-E55A-4BDA-9A0F-C61789000E9A}" dt="2026-08-21T16:22:58.260" v="411" actId="1076"/>
          <ac:picMkLst>
            <pc:docMk/>
            <pc:sldMk cId="0" sldId="266"/>
            <ac:picMk id="6" creationId="{D7A9B82E-A635-AE49-D172-BD76B0ACE131}"/>
          </ac:picMkLst>
        </pc:picChg>
        <pc:picChg chg="add mod">
          <ac:chgData name="Harshitha Reddy Guddeti" userId="d68e08f967258c21" providerId="LiveId" clId="{0E32DF5F-E55A-4BDA-9A0F-C61789000E9A}" dt="2026-08-21T16:23:19.224" v="414" actId="1076"/>
          <ac:picMkLst>
            <pc:docMk/>
            <pc:sldMk cId="0" sldId="266"/>
            <ac:picMk id="8" creationId="{CA95C9CD-3DF8-6DD5-738A-47C99860A6AC}"/>
          </ac:picMkLst>
        </pc:picChg>
        <pc:picChg chg="del">
          <ac:chgData name="Harshitha Reddy Guddeti" userId="d68e08f967258c21" providerId="LiveId" clId="{0E32DF5F-E55A-4BDA-9A0F-C61789000E9A}" dt="2026-08-21T16:20:44.435" v="406" actId="21"/>
          <ac:picMkLst>
            <pc:docMk/>
            <pc:sldMk cId="0" sldId="266"/>
            <ac:picMk id="12" creationId="{5A03D843-8381-0B11-9459-551ECD17398C}"/>
          </ac:picMkLst>
        </pc:picChg>
        <pc:picChg chg="del">
          <ac:chgData name="Harshitha Reddy Guddeti" userId="d68e08f967258c21" providerId="LiveId" clId="{0E32DF5F-E55A-4BDA-9A0F-C61789000E9A}" dt="2026-08-21T16:23:14.264" v="412" actId="21"/>
          <ac:picMkLst>
            <pc:docMk/>
            <pc:sldMk cId="0" sldId="266"/>
            <ac:picMk id="28" creationId="{08D008CE-9444-83D8-8818-5D642C77A2D0}"/>
          </ac:picMkLst>
        </pc:picChg>
        <pc:picChg chg="del">
          <ac:chgData name="Harshitha Reddy Guddeti" userId="d68e08f967258c21" providerId="LiveId" clId="{0E32DF5F-E55A-4BDA-9A0F-C61789000E9A}" dt="2026-08-21T16:22:51.685" v="409" actId="21"/>
          <ac:picMkLst>
            <pc:docMk/>
            <pc:sldMk cId="0" sldId="266"/>
            <ac:picMk id="30" creationId="{F1990340-1486-DB01-307F-CA64D325EED3}"/>
          </ac:picMkLst>
        </pc:picChg>
      </pc:sldChg>
      <pc:sldChg chg="addSp delSp modSp mod">
        <pc:chgData name="Harshitha Reddy Guddeti" userId="d68e08f967258c21" providerId="LiveId" clId="{0E32DF5F-E55A-4BDA-9A0F-C61789000E9A}" dt="2026-08-21T16:25:51.669" v="433" actId="1076"/>
        <pc:sldMkLst>
          <pc:docMk/>
          <pc:sldMk cId="0" sldId="267"/>
        </pc:sldMkLst>
        <pc:spChg chg="mod">
          <ac:chgData name="Harshitha Reddy Guddeti" userId="d68e08f967258c21" providerId="LiveId" clId="{0E32DF5F-E55A-4BDA-9A0F-C61789000E9A}" dt="2026-08-21T16:25:13.525" v="427" actId="1076"/>
          <ac:spMkLst>
            <pc:docMk/>
            <pc:sldMk cId="0" sldId="267"/>
            <ac:spMk id="4" creationId="{B1CA976D-2D0C-E4D9-73C4-DBA2E4B14D5C}"/>
          </ac:spMkLst>
        </pc:spChg>
        <pc:spChg chg="add mod">
          <ac:chgData name="Harshitha Reddy Guddeti" userId="d68e08f967258c21" providerId="LiveId" clId="{0E32DF5F-E55A-4BDA-9A0F-C61789000E9A}" dt="2026-08-21T16:25:20.779" v="429" actId="1076"/>
          <ac:spMkLst>
            <pc:docMk/>
            <pc:sldMk cId="0" sldId="267"/>
            <ac:spMk id="5" creationId="{057F4D98-030F-BBEA-4191-C810EBF286B6}"/>
          </ac:spMkLst>
        </pc:spChg>
        <pc:spChg chg="mod">
          <ac:chgData name="Harshitha Reddy Guddeti" userId="d68e08f967258c21" providerId="LiveId" clId="{0E32DF5F-E55A-4BDA-9A0F-C61789000E9A}" dt="2026-08-21T16:25:30.032" v="430" actId="1076"/>
          <ac:spMkLst>
            <pc:docMk/>
            <pc:sldMk cId="0" sldId="267"/>
            <ac:spMk id="9" creationId="{D9EA985A-260D-23F2-46EC-2A28C03933F1}"/>
          </ac:spMkLst>
        </pc:spChg>
        <pc:spChg chg="add mod">
          <ac:chgData name="Harshitha Reddy Guddeti" userId="d68e08f967258c21" providerId="LiveId" clId="{0E32DF5F-E55A-4BDA-9A0F-C61789000E9A}" dt="2026-08-21T16:25:51.669" v="433" actId="1076"/>
          <ac:spMkLst>
            <pc:docMk/>
            <pc:sldMk cId="0" sldId="267"/>
            <ac:spMk id="10" creationId="{BE681C8F-0010-F8DA-C697-B113BE1944BD}"/>
          </ac:spMkLst>
        </pc:spChg>
        <pc:spChg chg="del mod">
          <ac:chgData name="Harshitha Reddy Guddeti" userId="d68e08f967258c21" providerId="LiveId" clId="{0E32DF5F-E55A-4BDA-9A0F-C61789000E9A}" dt="2026-08-21T16:24:25.117" v="420" actId="21"/>
          <ac:spMkLst>
            <pc:docMk/>
            <pc:sldMk cId="0" sldId="267"/>
            <ac:spMk id="19" creationId="{590DA23A-13FC-2B97-03B5-42ABA50362FB}"/>
          </ac:spMkLst>
        </pc:spChg>
        <pc:picChg chg="del">
          <ac:chgData name="Harshitha Reddy Guddeti" userId="d68e08f967258c21" providerId="LiveId" clId="{0E32DF5F-E55A-4BDA-9A0F-C61789000E9A}" dt="2026-08-21T16:23:29.299" v="415" actId="21"/>
          <ac:picMkLst>
            <pc:docMk/>
            <pc:sldMk cId="0" sldId="267"/>
            <ac:picMk id="6" creationId="{432E5BFA-30B7-34C4-89FC-AB2E0FA84C9B}"/>
          </ac:picMkLst>
        </pc:picChg>
        <pc:picChg chg="del mod">
          <ac:chgData name="Harshitha Reddy Guddeti" userId="d68e08f967258c21" providerId="LiveId" clId="{0E32DF5F-E55A-4BDA-9A0F-C61789000E9A}" dt="2026-08-21T16:24:52.904" v="424" actId="21"/>
          <ac:picMkLst>
            <pc:docMk/>
            <pc:sldMk cId="0" sldId="267"/>
            <ac:picMk id="15" creationId="{7B09D665-3997-B8A7-4BFB-B15F5AA5E49E}"/>
          </ac:picMkLst>
        </pc:picChg>
        <pc:picChg chg="mod">
          <ac:chgData name="Harshitha Reddy Guddeti" userId="d68e08f967258c21" providerId="LiveId" clId="{0E32DF5F-E55A-4BDA-9A0F-C61789000E9A}" dt="2026-08-21T16:25:41.300" v="432" actId="1076"/>
          <ac:picMkLst>
            <pc:docMk/>
            <pc:sldMk cId="0" sldId="267"/>
            <ac:picMk id="17" creationId="{4C610075-466D-D0DA-298F-3C3531CB6825}"/>
          </ac:picMkLst>
        </pc:picChg>
      </pc:sldChg>
      <pc:sldChg chg="addSp delSp modSp mod">
        <pc:chgData name="Harshitha Reddy Guddeti" userId="d68e08f967258c21" providerId="LiveId" clId="{0E32DF5F-E55A-4BDA-9A0F-C61789000E9A}" dt="2026-08-21T15:42:28.010" v="359" actId="20577"/>
        <pc:sldMkLst>
          <pc:docMk/>
          <pc:sldMk cId="0" sldId="268"/>
        </pc:sldMkLst>
        <pc:spChg chg="del mod">
          <ac:chgData name="Harshitha Reddy Guddeti" userId="d68e08f967258c21" providerId="LiveId" clId="{0E32DF5F-E55A-4BDA-9A0F-C61789000E9A}" dt="2026-08-21T15:37:09.869" v="229" actId="21"/>
          <ac:spMkLst>
            <pc:docMk/>
            <pc:sldMk cId="0" sldId="268"/>
            <ac:spMk id="4" creationId="{37A2C8EE-DEF0-6DDC-2603-24F0939AC33E}"/>
          </ac:spMkLst>
        </pc:spChg>
        <pc:spChg chg="del mod">
          <ac:chgData name="Harshitha Reddy Guddeti" userId="d68e08f967258c21" providerId="LiveId" clId="{0E32DF5F-E55A-4BDA-9A0F-C61789000E9A}" dt="2026-08-21T15:36:51.749" v="225"/>
          <ac:spMkLst>
            <pc:docMk/>
            <pc:sldMk cId="0" sldId="268"/>
            <ac:spMk id="5" creationId="{5056B4FC-27CC-6CA8-3865-9BC1341A69B5}"/>
          </ac:spMkLst>
        </pc:spChg>
        <pc:spChg chg="del mod">
          <ac:chgData name="Harshitha Reddy Guddeti" userId="d68e08f967258c21" providerId="LiveId" clId="{0E32DF5F-E55A-4BDA-9A0F-C61789000E9A}" dt="2026-08-21T15:37:02.947" v="227" actId="21"/>
          <ac:spMkLst>
            <pc:docMk/>
            <pc:sldMk cId="0" sldId="268"/>
            <ac:spMk id="6" creationId="{1CE7C00B-8070-87F6-963A-0F6DBA26E80C}"/>
          </ac:spMkLst>
        </pc:spChg>
        <pc:spChg chg="add">
          <ac:chgData name="Harshitha Reddy Guddeti" userId="d68e08f967258c21" providerId="LiveId" clId="{0E32DF5F-E55A-4BDA-9A0F-C61789000E9A}" dt="2026-08-21T15:37:14.137" v="230" actId="22"/>
          <ac:spMkLst>
            <pc:docMk/>
            <pc:sldMk cId="0" sldId="268"/>
            <ac:spMk id="7" creationId="{4A3B6A09-1665-C684-20ED-D9E2C44BA836}"/>
          </ac:spMkLst>
        </pc:spChg>
        <pc:spChg chg="add mod">
          <ac:chgData name="Harshitha Reddy Guddeti" userId="d68e08f967258c21" providerId="LiveId" clId="{0E32DF5F-E55A-4BDA-9A0F-C61789000E9A}" dt="2026-08-21T15:42:28.010" v="359" actId="20577"/>
          <ac:spMkLst>
            <pc:docMk/>
            <pc:sldMk cId="0" sldId="268"/>
            <ac:spMk id="9" creationId="{BD4AAF8F-2E84-D279-DABB-6C5C6E2D8255}"/>
          </ac:spMkLst>
        </pc:spChg>
        <pc:spChg chg="del mod">
          <ac:chgData name="Harshitha Reddy Guddeti" userId="d68e08f967258c21" providerId="LiveId" clId="{0E32DF5F-E55A-4BDA-9A0F-C61789000E9A}" dt="2026-08-21T15:36:51.702" v="223" actId="21"/>
          <ac:spMkLst>
            <pc:docMk/>
            <pc:sldMk cId="0" sldId="268"/>
            <ac:spMk id="104" creationId="{00000000-0000-0000-0000-000000000000}"/>
          </ac:spMkLst>
        </pc:spChg>
      </pc:sldChg>
      <pc:sldChg chg="modSp mod">
        <pc:chgData name="Harshitha Reddy Guddeti" userId="d68e08f967258c21" providerId="LiveId" clId="{0E32DF5F-E55A-4BDA-9A0F-C61789000E9A}" dt="2026-08-21T15:45:30.446" v="383" actId="20577"/>
        <pc:sldMkLst>
          <pc:docMk/>
          <pc:sldMk cId="0" sldId="269"/>
        </pc:sldMkLst>
        <pc:spChg chg="mod">
          <ac:chgData name="Harshitha Reddy Guddeti" userId="d68e08f967258c21" providerId="LiveId" clId="{0E32DF5F-E55A-4BDA-9A0F-C61789000E9A}" dt="2026-08-21T15:45:30.446" v="383" actId="20577"/>
          <ac:spMkLst>
            <pc:docMk/>
            <pc:sldMk cId="0" sldId="269"/>
            <ac:spMk id="54" creationId="{2691FAF0-D89C-5AC4-7FA4-67D442702E0F}"/>
          </ac:spMkLst>
        </pc:spChg>
      </pc:sldChg>
      <pc:sldChg chg="modSp mod">
        <pc:chgData name="Harshitha Reddy Guddeti" userId="d68e08f967258c21" providerId="LiveId" clId="{0E32DF5F-E55A-4BDA-9A0F-C61789000E9A}" dt="2026-08-21T15:59:41.765" v="387" actId="113"/>
        <pc:sldMkLst>
          <pc:docMk/>
          <pc:sldMk cId="0" sldId="272"/>
        </pc:sldMkLst>
        <pc:spChg chg="mod">
          <ac:chgData name="Harshitha Reddy Guddeti" userId="d68e08f967258c21" providerId="LiveId" clId="{0E32DF5F-E55A-4BDA-9A0F-C61789000E9A}" dt="2026-08-21T15:59:41.765" v="387" actId="113"/>
          <ac:spMkLst>
            <pc:docMk/>
            <pc:sldMk cId="0" sldId="272"/>
            <ac:spMk id="104" creationId="{00000000-0000-0000-0000-000000000000}"/>
          </ac:spMkLst>
        </pc:spChg>
      </pc:sldChg>
      <pc:sldChg chg="delSp modSp mod">
        <pc:chgData name="Harshitha Reddy Guddeti" userId="d68e08f967258c21" providerId="LiveId" clId="{0E32DF5F-E55A-4BDA-9A0F-C61789000E9A}" dt="2026-08-21T16:01:58.775" v="405"/>
        <pc:sldMkLst>
          <pc:docMk/>
          <pc:sldMk cId="0" sldId="273"/>
        </pc:sldMkLst>
        <pc:spChg chg="del mod">
          <ac:chgData name="Harshitha Reddy Guddeti" userId="d68e08f967258c21" providerId="LiveId" clId="{0E32DF5F-E55A-4BDA-9A0F-C61789000E9A}" dt="2026-08-21T16:01:58.774" v="403"/>
          <ac:spMkLst>
            <pc:docMk/>
            <pc:sldMk cId="0" sldId="273"/>
            <ac:spMk id="2" creationId="{8DED07D8-954C-4822-18C8-4B150432DC43}"/>
          </ac:spMkLst>
        </pc:spChg>
        <pc:spChg chg="del mod">
          <ac:chgData name="Harshitha Reddy Guddeti" userId="d68e08f967258c21" providerId="LiveId" clId="{0E32DF5F-E55A-4BDA-9A0F-C61789000E9A}" dt="2026-08-21T16:01:58.775" v="405"/>
          <ac:spMkLst>
            <pc:docMk/>
            <pc:sldMk cId="0" sldId="273"/>
            <ac:spMk id="4" creationId="{D81720D8-6040-F1DF-AA44-846A934C6FE3}"/>
          </ac:spMkLst>
        </pc:spChg>
        <pc:spChg chg="mod">
          <ac:chgData name="Harshitha Reddy Guddeti" userId="d68e08f967258c21" providerId="LiveId" clId="{0E32DF5F-E55A-4BDA-9A0F-C61789000E9A}" dt="2026-08-21T16:01:53.581" v="401" actId="20577"/>
          <ac:spMkLst>
            <pc:docMk/>
            <pc:sldMk cId="0" sldId="273"/>
            <ac:spMk id="5" creationId="{230E891C-4A8A-5FF9-68BA-D856A00C6665}"/>
          </ac:spMkLst>
        </pc:spChg>
      </pc:sldChg>
      <pc:sldChg chg="modSp mod">
        <pc:chgData name="Harshitha Reddy Guddeti" userId="d68e08f967258c21" providerId="LiveId" clId="{0E32DF5F-E55A-4BDA-9A0F-C61789000E9A}" dt="2026-08-21T14:40:40.731" v="7" actId="2711"/>
        <pc:sldMkLst>
          <pc:docMk/>
          <pc:sldMk cId="1542608362" sldId="275"/>
        </pc:sldMkLst>
        <pc:spChg chg="mod">
          <ac:chgData name="Harshitha Reddy Guddeti" userId="d68e08f967258c21" providerId="LiveId" clId="{0E32DF5F-E55A-4BDA-9A0F-C61789000E9A}" dt="2026-08-21T14:40:40.731" v="7" actId="2711"/>
          <ac:spMkLst>
            <pc:docMk/>
            <pc:sldMk cId="1542608362" sldId="275"/>
            <ac:spMk id="3" creationId="{55446533-05DB-61FA-140F-CB8350E70BA3}"/>
          </ac:spMkLst>
        </pc:spChg>
      </pc:sldChg>
      <pc:sldChg chg="addSp delSp modSp mod">
        <pc:chgData name="Harshitha Reddy Guddeti" userId="d68e08f967258c21" providerId="LiveId" clId="{0E32DF5F-E55A-4BDA-9A0F-C61789000E9A}" dt="2026-08-21T17:07:48.263" v="556" actId="1076"/>
        <pc:sldMkLst>
          <pc:docMk/>
          <pc:sldMk cId="3272681456" sldId="276"/>
        </pc:sldMkLst>
        <pc:spChg chg="mod">
          <ac:chgData name="Harshitha Reddy Guddeti" userId="d68e08f967258c21" providerId="LiveId" clId="{0E32DF5F-E55A-4BDA-9A0F-C61789000E9A}" dt="2026-08-21T16:26:15.516" v="454" actId="20577"/>
          <ac:spMkLst>
            <pc:docMk/>
            <pc:sldMk cId="3272681456" sldId="276"/>
            <ac:spMk id="6" creationId="{03EE741D-C366-44A2-205E-AD459F9928B1}"/>
          </ac:spMkLst>
        </pc:spChg>
        <pc:spChg chg="mod">
          <ac:chgData name="Harshitha Reddy Guddeti" userId="d68e08f967258c21" providerId="LiveId" clId="{0E32DF5F-E55A-4BDA-9A0F-C61789000E9A}" dt="2026-08-21T16:27:13.377" v="529" actId="20577"/>
          <ac:spMkLst>
            <pc:docMk/>
            <pc:sldMk cId="3272681456" sldId="276"/>
            <ac:spMk id="7" creationId="{396328A6-8570-D84B-E892-F30E46C8C102}"/>
          </ac:spMkLst>
        </pc:spChg>
        <pc:spChg chg="del mod">
          <ac:chgData name="Harshitha Reddy Guddeti" userId="d68e08f967258c21" providerId="LiveId" clId="{0E32DF5F-E55A-4BDA-9A0F-C61789000E9A}" dt="2026-08-21T17:02:36.653" v="548"/>
          <ac:spMkLst>
            <pc:docMk/>
            <pc:sldMk cId="3272681456" sldId="276"/>
            <ac:spMk id="9" creationId="{297F4073-9088-1838-2C69-C8BAAFAF2C3E}"/>
          </ac:spMkLst>
        </pc:spChg>
        <pc:spChg chg="mod">
          <ac:chgData name="Harshitha Reddy Guddeti" userId="d68e08f967258c21" providerId="LiveId" clId="{0E32DF5F-E55A-4BDA-9A0F-C61789000E9A}" dt="2026-08-21T17:07:48.263" v="556" actId="1076"/>
          <ac:spMkLst>
            <pc:docMk/>
            <pc:sldMk cId="3272681456" sldId="276"/>
            <ac:spMk id="10" creationId="{BC8A8CAA-69AE-3824-9FC4-067C4C77BA71}"/>
          </ac:spMkLst>
        </pc:spChg>
        <pc:spChg chg="add mod">
          <ac:chgData name="Harshitha Reddy Guddeti" userId="d68e08f967258c21" providerId="LiveId" clId="{0E32DF5F-E55A-4BDA-9A0F-C61789000E9A}" dt="2026-08-21T17:03:31.085" v="552"/>
          <ac:spMkLst>
            <pc:docMk/>
            <pc:sldMk cId="3272681456" sldId="276"/>
            <ac:spMk id="11" creationId="{3D2D0C87-954C-D76A-0247-943F2C817C0B}"/>
          </ac:spMkLst>
        </pc:spChg>
        <pc:spChg chg="mod">
          <ac:chgData name="Harshitha Reddy Guddeti" userId="d68e08f967258c21" providerId="LiveId" clId="{0E32DF5F-E55A-4BDA-9A0F-C61789000E9A}" dt="2026-08-21T16:26:26.359" v="473" actId="20577"/>
          <ac:spMkLst>
            <pc:docMk/>
            <pc:sldMk cId="3272681456" sldId="276"/>
            <ac:spMk id="12" creationId="{A345DC7F-66EB-AA6A-6DDD-125BE8AEBFFF}"/>
          </ac:spMkLst>
        </pc:spChg>
        <pc:spChg chg="mod">
          <ac:chgData name="Harshitha Reddy Guddeti" userId="d68e08f967258c21" providerId="LiveId" clId="{0E32DF5F-E55A-4BDA-9A0F-C61789000E9A}" dt="2026-08-21T17:03:47.127" v="553"/>
          <ac:spMkLst>
            <pc:docMk/>
            <pc:sldMk cId="3272681456" sldId="276"/>
            <ac:spMk id="13" creationId="{58AB7683-D43B-C3DE-ACE1-29A1D71EB564}"/>
          </ac:spMkLst>
        </pc:spChg>
        <pc:spChg chg="mod">
          <ac:chgData name="Harshitha Reddy Guddeti" userId="d68e08f967258c21" providerId="LiveId" clId="{0E32DF5F-E55A-4BDA-9A0F-C61789000E9A}" dt="2026-08-21T17:03:59.202" v="554"/>
          <ac:spMkLst>
            <pc:docMk/>
            <pc:sldMk cId="3272681456" sldId="276"/>
            <ac:spMk id="14" creationId="{6B622DA8-8B8F-8D02-3768-F61583D8B95D}"/>
          </ac:spMkLst>
        </pc:spChg>
        <pc:spChg chg="mod">
          <ac:chgData name="Harshitha Reddy Guddeti" userId="d68e08f967258c21" providerId="LiveId" clId="{0E32DF5F-E55A-4BDA-9A0F-C61789000E9A}" dt="2026-08-21T16:26:37.810" v="496" actId="20577"/>
          <ac:spMkLst>
            <pc:docMk/>
            <pc:sldMk cId="3272681456" sldId="276"/>
            <ac:spMk id="18" creationId="{A44D4F45-8B57-014D-0F55-52F8CE12ED41}"/>
          </ac:spMkLst>
        </pc:spChg>
        <pc:spChg chg="mod">
          <ac:chgData name="Harshitha Reddy Guddeti" userId="d68e08f967258c21" providerId="LiveId" clId="{0E32DF5F-E55A-4BDA-9A0F-C61789000E9A}" dt="2026-08-21T16:28:28.821" v="531" actId="14100"/>
          <ac:spMkLst>
            <pc:docMk/>
            <pc:sldMk cId="3272681456" sldId="276"/>
            <ac:spMk id="21" creationId="{77E13A4F-F9B2-4216-BC00-56E0E40291A5}"/>
          </ac:spMkLst>
        </pc:spChg>
        <pc:spChg chg="mod">
          <ac:chgData name="Harshitha Reddy Guddeti" userId="d68e08f967258c21" providerId="LiveId" clId="{0E32DF5F-E55A-4BDA-9A0F-C61789000E9A}" dt="2026-08-21T17:04:41.720" v="555" actId="207"/>
          <ac:spMkLst>
            <pc:docMk/>
            <pc:sldMk cId="3272681456" sldId="276"/>
            <ac:spMk id="22" creationId="{18D15514-A944-A81E-C23E-5A5C8E0F311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arshitha-reddy206" TargetMode="External"/><Relationship Id="rId2" Type="http://schemas.openxmlformats.org/officeDocument/2006/relationships/hyperlink" Target="https://github.com/harshitha1119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inkedin.com/in/harshitha-veeramaneni-08874228b/" TargetMode="External"/><Relationship Id="rId5" Type="http://schemas.openxmlformats.org/officeDocument/2006/relationships/hyperlink" Target="github.com/paruchurimeghana" TargetMode="External"/><Relationship Id="rId4" Type="http://schemas.openxmlformats.org/officeDocument/2006/relationships/hyperlink" Target="http://www.linkedin.com/in/meghana-paruchuri-00a220313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81951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5" y="3632926"/>
            <a:ext cx="7246189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lang="en-IN" sz="1800" b="0" i="0" u="none" strike="noStrike" cap="none" dirty="0">
                <a:solidFill>
                  <a:schemeClr val="dk1"/>
                </a:solidFill>
                <a:latin typeface="Book Antiqua" panose="02040602050305030304" pitchFamily="18" charset="0"/>
                <a:ea typeface="Calibri"/>
                <a:cs typeface="Calibri"/>
                <a:sym typeface="Calibri"/>
              </a:rPr>
            </a:br>
            <a:r>
              <a:rPr lang="en-IN" sz="2000" b="0" i="0" u="none" strike="noStrike" cap="none" dirty="0">
                <a:solidFill>
                  <a:schemeClr val="dk1"/>
                </a:solidFill>
                <a:latin typeface="Book Antiqua" panose="02040602050305030304" pitchFamily="18" charset="0"/>
                <a:ea typeface="Calibri"/>
                <a:cs typeface="Calibri"/>
                <a:sym typeface="Calibri"/>
              </a:rPr>
              <a:t>Last-Mile Delivery Operations Analytics</a:t>
            </a:r>
            <a:endParaRPr sz="2000" b="0" i="0" u="none" strike="noStrike" cap="none" dirty="0">
              <a:solidFill>
                <a:srgbClr val="000000"/>
              </a:solidFill>
              <a:latin typeface="Book Antiqua" panose="02040602050305030304" pitchFamily="18" charset="0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80BD16-0990-3754-9B98-98C5C58F0F91}"/>
              </a:ext>
            </a:extLst>
          </p:cNvPr>
          <p:cNvSpPr txBox="1"/>
          <p:nvPr/>
        </p:nvSpPr>
        <p:spPr>
          <a:xfrm>
            <a:off x="9008306" y="4949172"/>
            <a:ext cx="199573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600" dirty="0"/>
          </a:p>
          <a:p>
            <a:endParaRPr lang="en-IN" sz="1800" b="1" dirty="0"/>
          </a:p>
          <a:p>
            <a:endParaRPr lang="en-IN" sz="1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7DBA3B-D347-812B-40F0-0C875655B6FA}"/>
              </a:ext>
            </a:extLst>
          </p:cNvPr>
          <p:cNvSpPr txBox="1"/>
          <p:nvPr/>
        </p:nvSpPr>
        <p:spPr>
          <a:xfrm>
            <a:off x="1465367" y="355540"/>
            <a:ext cx="115585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Meet Team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03EE741D-C366-44A2-205E-AD459F9928B1}"/>
              </a:ext>
            </a:extLst>
          </p:cNvPr>
          <p:cNvSpPr txBox="1"/>
          <p:nvPr/>
        </p:nvSpPr>
        <p:spPr>
          <a:xfrm>
            <a:off x="1200680" y="1442413"/>
            <a:ext cx="1354345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900" b="1">
                <a:solidFill>
                  <a:srgbClr val="191919"/>
                </a:solidFill>
                <a:latin typeface="Georgia"/>
              </a:defRPr>
            </a:pP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V.Harshitha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396328A6-8570-D84B-E892-F30E46C8C102}"/>
              </a:ext>
            </a:extLst>
          </p:cNvPr>
          <p:cNvSpPr txBox="1"/>
          <p:nvPr/>
        </p:nvSpPr>
        <p:spPr>
          <a:xfrm>
            <a:off x="886023" y="2092765"/>
            <a:ext cx="178574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</a:t>
            </a:r>
            <a:r>
              <a:rPr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N" sz="1500" dirty="0" err="1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B.Tech</a:t>
            </a:r>
            <a:endParaRPr sz="1500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606283E0-E30D-0D24-28FA-1A22810A26FC}"/>
              </a:ext>
            </a:extLst>
          </p:cNvPr>
          <p:cNvSpPr txBox="1"/>
          <p:nvPr/>
        </p:nvSpPr>
        <p:spPr>
          <a:xfrm>
            <a:off x="886023" y="2625775"/>
            <a:ext cx="184909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Experience: </a:t>
            </a:r>
            <a:r>
              <a:rPr sz="16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Fresher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BC8A8CAA-69AE-3824-9FC4-067C4C77BA71}"/>
              </a:ext>
            </a:extLst>
          </p:cNvPr>
          <p:cNvSpPr txBox="1"/>
          <p:nvPr/>
        </p:nvSpPr>
        <p:spPr>
          <a:xfrm>
            <a:off x="896186" y="4202273"/>
            <a:ext cx="32292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</a:t>
            </a:r>
            <a:r>
              <a:rPr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IN" sz="1500" b="1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b="1" u="sng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https://github.com/harshitha1119</a:t>
            </a:r>
            <a:endParaRPr sz="1600" b="1" u="sng" dirty="0">
              <a:solidFill>
                <a:schemeClr val="accent5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A345DC7F-66EB-AA6A-6DDD-125BE8AEBFFF}"/>
              </a:ext>
            </a:extLst>
          </p:cNvPr>
          <p:cNvSpPr txBox="1"/>
          <p:nvPr/>
        </p:nvSpPr>
        <p:spPr>
          <a:xfrm>
            <a:off x="4949092" y="1442413"/>
            <a:ext cx="1308756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900" b="1">
                <a:solidFill>
                  <a:srgbClr val="191919"/>
                </a:solidFill>
                <a:latin typeface="Georgia"/>
              </a:defRPr>
            </a:pP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P.Meghana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6">
            <a:extLst>
              <a:ext uri="{FF2B5EF4-FFF2-40B4-BE49-F238E27FC236}">
                <a16:creationId xmlns:a16="http://schemas.microsoft.com/office/drawing/2014/main" id="{A44D4F45-8B57-014D-0F55-52F8CE12ED41}"/>
              </a:ext>
            </a:extLst>
          </p:cNvPr>
          <p:cNvSpPr txBox="1"/>
          <p:nvPr/>
        </p:nvSpPr>
        <p:spPr>
          <a:xfrm>
            <a:off x="8663667" y="1442413"/>
            <a:ext cx="2079288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900" b="1">
                <a:solidFill>
                  <a:srgbClr val="191919"/>
                </a:solidFill>
                <a:latin typeface="Georgia"/>
              </a:defRPr>
            </a:pP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G.Harshitha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Reddy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7">
            <a:extLst>
              <a:ext uri="{FF2B5EF4-FFF2-40B4-BE49-F238E27FC236}">
                <a16:creationId xmlns:a16="http://schemas.microsoft.com/office/drawing/2014/main" id="{CCB947A1-4DD2-DBAA-830B-EE1ACEE86BA2}"/>
              </a:ext>
            </a:extLst>
          </p:cNvPr>
          <p:cNvSpPr txBox="1"/>
          <p:nvPr/>
        </p:nvSpPr>
        <p:spPr>
          <a:xfrm>
            <a:off x="8857948" y="2092765"/>
            <a:ext cx="182691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round: </a:t>
            </a:r>
            <a:r>
              <a:rPr sz="15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IN" sz="15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.T</a:t>
            </a:r>
            <a:r>
              <a:rPr sz="1600" dirty="0" err="1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ech</a:t>
            </a:r>
            <a:endParaRPr sz="1600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8">
            <a:extLst>
              <a:ext uri="{FF2B5EF4-FFF2-40B4-BE49-F238E27FC236}">
                <a16:creationId xmlns:a16="http://schemas.microsoft.com/office/drawing/2014/main" id="{367A2FC3-5A40-8C9C-D280-602AA50399C1}"/>
              </a:ext>
            </a:extLst>
          </p:cNvPr>
          <p:cNvSpPr txBox="1"/>
          <p:nvPr/>
        </p:nvSpPr>
        <p:spPr>
          <a:xfrm>
            <a:off x="8857948" y="2625775"/>
            <a:ext cx="185749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Experience: </a:t>
            </a:r>
            <a:r>
              <a:rPr sz="16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Fresher</a:t>
            </a:r>
          </a:p>
        </p:txBody>
      </p:sp>
      <p:sp>
        <p:nvSpPr>
          <p:cNvPr id="21" name="TextBox 19">
            <a:extLst>
              <a:ext uri="{FF2B5EF4-FFF2-40B4-BE49-F238E27FC236}">
                <a16:creationId xmlns:a16="http://schemas.microsoft.com/office/drawing/2014/main" id="{77E13A4F-F9B2-4216-BC00-56E0E40291A5}"/>
              </a:ext>
            </a:extLst>
          </p:cNvPr>
          <p:cNvSpPr txBox="1"/>
          <p:nvPr/>
        </p:nvSpPr>
        <p:spPr>
          <a:xfrm>
            <a:off x="8867858" y="3179773"/>
            <a:ext cx="29555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LinkedIn: </a:t>
            </a:r>
            <a:endParaRPr lang="en-IN" sz="1500" b="1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b="1" u="sng" dirty="0">
                <a:solidFill>
                  <a:srgbClr val="0563C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https://www.linkedin.com/in/harshitha-reddy-579b6831a/</a:t>
            </a:r>
            <a:endParaRPr sz="1600" b="1" u="sng" dirty="0">
              <a:solidFill>
                <a:schemeClr val="accent5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0">
            <a:extLst>
              <a:ext uri="{FF2B5EF4-FFF2-40B4-BE49-F238E27FC236}">
                <a16:creationId xmlns:a16="http://schemas.microsoft.com/office/drawing/2014/main" id="{18D15514-A944-A81E-C23E-5A5C8E0F3119}"/>
              </a:ext>
            </a:extLst>
          </p:cNvPr>
          <p:cNvSpPr txBox="1"/>
          <p:nvPr/>
        </p:nvSpPr>
        <p:spPr>
          <a:xfrm>
            <a:off x="8877425" y="4117314"/>
            <a:ext cx="2955548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r>
              <a:rPr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</a:t>
            </a:r>
            <a:r>
              <a:rPr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endParaRPr lang="en-IN" sz="1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5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https://github.com/harshitha-reddy206</a:t>
            </a:r>
            <a:endParaRPr lang="en-IN" sz="1500" b="1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DD4C79-6F20-6066-D04D-9CBCF29CD165}"/>
              </a:ext>
            </a:extLst>
          </p:cNvPr>
          <p:cNvSpPr txBox="1"/>
          <p:nvPr/>
        </p:nvSpPr>
        <p:spPr>
          <a:xfrm>
            <a:off x="4619513" y="2092765"/>
            <a:ext cx="19243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Background: </a:t>
            </a:r>
            <a:r>
              <a:rPr lang="en-IN" sz="1600" dirty="0" err="1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B.Tech</a:t>
            </a:r>
            <a:endParaRPr lang="en-IN" sz="1600" dirty="0">
              <a:solidFill>
                <a:srgbClr val="191919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5FBC62-B19C-AF76-B18F-B48BE5D80B93}"/>
              </a:ext>
            </a:extLst>
          </p:cNvPr>
          <p:cNvSpPr txBox="1"/>
          <p:nvPr/>
        </p:nvSpPr>
        <p:spPr>
          <a:xfrm>
            <a:off x="4619513" y="2625775"/>
            <a:ext cx="19243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Experience: </a:t>
            </a:r>
            <a:r>
              <a:rPr lang="en-IN" sz="1600" dirty="0">
                <a:solidFill>
                  <a:srgbClr val="1919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Fresher</a:t>
            </a: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AB7683-D43B-C3DE-ACE1-29A1D71EB564}"/>
              </a:ext>
            </a:extLst>
          </p:cNvPr>
          <p:cNvSpPr txBox="1"/>
          <p:nvPr/>
        </p:nvSpPr>
        <p:spPr>
          <a:xfrm>
            <a:off x="4619513" y="3152001"/>
            <a:ext cx="2844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LinkedIn:</a:t>
            </a:r>
          </a:p>
          <a:p>
            <a:r>
              <a:rPr lang="en-IN" sz="1600" b="1" u="sng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www.linkedin.com/in/meghana-paruchuri-00a220313</a:t>
            </a:r>
            <a:endParaRPr lang="en-IN" sz="1600" b="1" u="sng" dirty="0">
              <a:solidFill>
                <a:schemeClr val="accent5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622DA8-8B8F-8D02-3768-F61583D8B95D}"/>
              </a:ext>
            </a:extLst>
          </p:cNvPr>
          <p:cNvSpPr txBox="1"/>
          <p:nvPr/>
        </p:nvSpPr>
        <p:spPr>
          <a:xfrm>
            <a:off x="4619513" y="4116235"/>
            <a:ext cx="27515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GitHub:</a:t>
            </a:r>
          </a:p>
          <a:p>
            <a:r>
              <a:rPr lang="en-IN" sz="1600" b="1" u="sng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github.com/</a:t>
            </a:r>
            <a:r>
              <a:rPr lang="en-IN" sz="1600" b="1" u="sng" dirty="0" err="1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paruchurimeghana</a:t>
            </a:r>
            <a:endParaRPr lang="en-IN" sz="1600" b="1" u="sng" dirty="0">
              <a:solidFill>
                <a:schemeClr val="accent5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2D0C87-954C-D76A-0247-943F2C817C0B}"/>
              </a:ext>
            </a:extLst>
          </p:cNvPr>
          <p:cNvSpPr txBox="1"/>
          <p:nvPr/>
        </p:nvSpPr>
        <p:spPr>
          <a:xfrm>
            <a:off x="896186" y="3125055"/>
            <a:ext cx="28445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LinkedIn:</a:t>
            </a:r>
          </a:p>
          <a:p>
            <a:r>
              <a:rPr lang="en-IN" sz="1600" b="1" u="sng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https://www.linkedin.com/in/harshitha-veeramaneni-08874228b/</a:t>
            </a:r>
            <a:endParaRPr lang="en-IN" sz="1600" b="1" u="sng" dirty="0">
              <a:solidFill>
                <a:schemeClr val="accent5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2681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5" y="18250"/>
            <a:ext cx="11516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sz="3200" b="1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Table of contents </a:t>
            </a:r>
            <a:endParaRPr sz="3200" b="1" dirty="0">
              <a:solidFill>
                <a:srgbClr val="FF0000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10453" y="1337565"/>
            <a:ext cx="10515600" cy="4926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5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Project Overview</a:t>
            </a:r>
          </a:p>
          <a:p>
            <a:pPr marL="85566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None/>
            </a:pPr>
            <a:endParaRPr lang="en-IN" sz="2253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lvl="0" indent="-371634">
              <a:lnSpc>
                <a:spcPct val="70000"/>
              </a:lnSpc>
              <a:spcBef>
                <a:spcPts val="0"/>
              </a:spcBef>
              <a:buSzPts val="2253"/>
            </a:pPr>
            <a:r>
              <a:rPr lang="en-US" sz="225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Business Scenario</a:t>
            </a:r>
            <a:br>
              <a:rPr lang="en-US" sz="225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</a:br>
            <a:endParaRPr lang="en-US" sz="2253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lvl="0" indent="-371634">
              <a:lnSpc>
                <a:spcPct val="70000"/>
              </a:lnSpc>
              <a:spcBef>
                <a:spcPts val="0"/>
              </a:spcBef>
              <a:buSzPts val="2253"/>
            </a:pPr>
            <a:r>
              <a:rPr lang="en-US" sz="225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Business Objectives</a:t>
            </a:r>
            <a:br>
              <a:rPr lang="en-US" sz="225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</a:br>
            <a:endParaRPr lang="en-US" sz="2253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lvl="0" indent="-371634">
              <a:lnSpc>
                <a:spcPct val="70000"/>
              </a:lnSpc>
              <a:spcBef>
                <a:spcPts val="0"/>
              </a:spcBef>
              <a:buSzPts val="2253"/>
            </a:pPr>
            <a:r>
              <a:rPr lang="en-US" sz="225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Dataset &amp; Database Overview</a:t>
            </a:r>
            <a:br>
              <a:rPr lang="en-US" sz="225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</a:br>
            <a:endParaRPr lang="en-US" sz="2253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lvl="0" indent="-371634">
              <a:lnSpc>
                <a:spcPct val="70000"/>
              </a:lnSpc>
              <a:spcBef>
                <a:spcPts val="0"/>
              </a:spcBef>
              <a:buSzPts val="2253"/>
            </a:pPr>
            <a:r>
              <a:rPr lang="en-US" sz="225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ER Diagram &amp; Database Structure</a:t>
            </a:r>
            <a:br>
              <a:rPr lang="en-US" sz="225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</a:br>
            <a:endParaRPr lang="en-US" sz="2253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lvl="0" indent="-371634">
              <a:lnSpc>
                <a:spcPct val="70000"/>
              </a:lnSpc>
              <a:spcBef>
                <a:spcPts val="0"/>
              </a:spcBef>
              <a:buSzPts val="2253"/>
            </a:pPr>
            <a:r>
              <a:rPr lang="en-US" sz="225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Analysis of the Objectives</a:t>
            </a:r>
            <a:br>
              <a:rPr lang="en-US" sz="225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</a:br>
            <a:endParaRPr lang="en-US" sz="2253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lvl="0" indent="-371634">
              <a:lnSpc>
                <a:spcPct val="70000"/>
              </a:lnSpc>
              <a:spcBef>
                <a:spcPts val="0"/>
              </a:spcBef>
              <a:buSzPts val="2253"/>
            </a:pPr>
            <a:r>
              <a:rPr lang="en-US" sz="225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Overall Key Findings</a:t>
            </a:r>
            <a:br>
              <a:rPr lang="en-US" sz="225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</a:br>
            <a:endParaRPr lang="en-US" sz="2253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lvl="0" indent="-371634">
              <a:lnSpc>
                <a:spcPct val="70000"/>
              </a:lnSpc>
              <a:spcBef>
                <a:spcPts val="0"/>
              </a:spcBef>
              <a:buSzPts val="2253"/>
            </a:pPr>
            <a:r>
              <a:rPr lang="en-US" sz="225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Business Recommendations</a:t>
            </a:r>
            <a:br>
              <a:rPr lang="en-US" sz="225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</a:br>
            <a:endParaRPr lang="en-US" sz="2253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lvl="0" indent="-371634">
              <a:lnSpc>
                <a:spcPct val="70000"/>
              </a:lnSpc>
              <a:spcBef>
                <a:spcPts val="0"/>
              </a:spcBef>
              <a:buSzPts val="2253"/>
            </a:pPr>
            <a:r>
              <a:rPr lang="en-US" sz="225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Conclusion</a:t>
            </a:r>
            <a:br>
              <a:rPr lang="en-US" sz="225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</a:br>
            <a:endParaRPr lang="en-US" sz="2253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lvl="0" indent="-371634">
              <a:lnSpc>
                <a:spcPct val="70000"/>
              </a:lnSpc>
              <a:spcBef>
                <a:spcPts val="0"/>
              </a:spcBef>
              <a:buSzPts val="2253"/>
            </a:pPr>
            <a:r>
              <a:rPr lang="en-US" sz="2253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Q&amp;A</a:t>
            </a:r>
            <a:endParaRPr lang="en-IN" sz="2253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96D3AB-3802-9D91-D6CC-D9AB7BD441F6}"/>
              </a:ext>
            </a:extLst>
          </p:cNvPr>
          <p:cNvSpPr/>
          <p:nvPr/>
        </p:nvSpPr>
        <p:spPr>
          <a:xfrm>
            <a:off x="381853" y="1039403"/>
            <a:ext cx="10972800" cy="32004"/>
          </a:xfrm>
          <a:prstGeom prst="rect">
            <a:avLst/>
          </a:prstGeom>
          <a:solidFill>
            <a:srgbClr val="C2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36609-ED3D-2FA4-C785-471E3FB39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797" y="418402"/>
            <a:ext cx="4412512" cy="531053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Project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46533-05DB-61FA-140F-CB8350E70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3019" y="1469411"/>
            <a:ext cx="10848578" cy="4420920"/>
          </a:xfrm>
        </p:spPr>
        <p:txBody>
          <a:bodyPr/>
          <a:lstStyle/>
          <a:p>
            <a:pPr lvl="0"/>
            <a:r>
              <a:rPr lang="en-IN" sz="2000" dirty="0">
                <a:latin typeface="+mn-lt"/>
              </a:rPr>
              <a:t>Last-mile delivery is the final stage of delivering an order to the customer. </a:t>
            </a:r>
          </a:p>
          <a:p>
            <a:pPr lvl="0"/>
            <a:r>
              <a:rPr lang="en-IN" sz="2000" dirty="0">
                <a:latin typeface="+mn-lt"/>
              </a:rPr>
              <a:t>Efficient delivery operations depend on demand, delivery status, drivers and available vehicles. </a:t>
            </a:r>
          </a:p>
          <a:p>
            <a:pPr lvl="0"/>
            <a:r>
              <a:rPr lang="en-IN" sz="2000" dirty="0">
                <a:latin typeface="+mn-lt"/>
              </a:rPr>
              <a:t>This project uses </a:t>
            </a:r>
            <a:r>
              <a:rPr lang="en-IN" sz="2000" b="1" dirty="0">
                <a:latin typeface="+mn-lt"/>
              </a:rPr>
              <a:t>SQL</a:t>
            </a:r>
            <a:r>
              <a:rPr lang="en-IN" sz="2000" dirty="0">
                <a:latin typeface="+mn-lt"/>
              </a:rPr>
              <a:t> to </a:t>
            </a:r>
            <a:r>
              <a:rPr lang="en-IN" sz="2000" dirty="0" err="1">
                <a:latin typeface="+mn-lt"/>
              </a:rPr>
              <a:t>analyze</a:t>
            </a:r>
            <a:r>
              <a:rPr lang="en-IN" sz="2000" dirty="0">
                <a:latin typeface="+mn-lt"/>
              </a:rPr>
              <a:t> operational data stored across multiple tables. </a:t>
            </a:r>
          </a:p>
          <a:p>
            <a:pPr lvl="0"/>
            <a:r>
              <a:rPr lang="en-IN" sz="2000" dirty="0">
                <a:latin typeface="+mn-lt"/>
              </a:rPr>
              <a:t>The analysis focuses on identifying patterns, performance gaps and resource utilization. </a:t>
            </a:r>
          </a:p>
          <a:p>
            <a:pPr lvl="0"/>
            <a:r>
              <a:rPr lang="en-IN" sz="2000" dirty="0">
                <a:latin typeface="+mn-lt"/>
              </a:rPr>
              <a:t>The final insights help improve delivery planning and operational decision-making. </a:t>
            </a:r>
          </a:p>
          <a:p>
            <a:pPr marL="114300" indent="0">
              <a:spcAft>
                <a:spcPts val="800"/>
              </a:spcAft>
              <a:buNone/>
              <a:defRPr sz="1700">
                <a:solidFill>
                  <a:srgbClr val="232323"/>
                </a:solidFill>
                <a:latin typeface="Aptos"/>
              </a:defRPr>
            </a:pPr>
            <a:endParaRPr lang="en-IN" sz="2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169868-B8DB-CBCE-C0E0-FE20A3FA18B0}"/>
              </a:ext>
            </a:extLst>
          </p:cNvPr>
          <p:cNvSpPr/>
          <p:nvPr/>
        </p:nvSpPr>
        <p:spPr>
          <a:xfrm>
            <a:off x="458797" y="1060668"/>
            <a:ext cx="10972800" cy="32004"/>
          </a:xfrm>
          <a:prstGeom prst="rect">
            <a:avLst/>
          </a:prstGeom>
          <a:solidFill>
            <a:srgbClr val="C2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542608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1324560" y="1380874"/>
            <a:ext cx="8138417" cy="2154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Quick Route Logistics handles deliveries across different zones and service         categories.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As the number of orders increases, the operations team needs a better understanding of delivery demand and operational performance.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Managing increasing order volumes across different delivery zones.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Understanding which service types and priority levels create the highest demand.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Monitoring delivery outcomes such as Delivered, Pending, Failed, and Rescheduled. </a:t>
            </a:r>
          </a:p>
          <a:p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88035" y="440678"/>
            <a:ext cx="6099600" cy="8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Business Scenario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AF0CAC-9B2C-40AF-0C13-90D2174F259F}"/>
              </a:ext>
            </a:extLst>
          </p:cNvPr>
          <p:cNvSpPr/>
          <p:nvPr/>
        </p:nvSpPr>
        <p:spPr>
          <a:xfrm>
            <a:off x="488035" y="1086481"/>
            <a:ext cx="10972800" cy="32004"/>
          </a:xfrm>
          <a:prstGeom prst="rect">
            <a:avLst/>
          </a:prstGeom>
          <a:solidFill>
            <a:srgbClr val="C2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F9BA8184-3287-5167-921D-C2371C7956C2}"/>
              </a:ext>
            </a:extLst>
          </p:cNvPr>
          <p:cNvSpPr/>
          <p:nvPr/>
        </p:nvSpPr>
        <p:spPr>
          <a:xfrm>
            <a:off x="822960" y="4160520"/>
            <a:ext cx="2011680" cy="640080"/>
          </a:xfrm>
          <a:prstGeom prst="roundRect">
            <a:avLst/>
          </a:prstGeom>
          <a:solidFill>
            <a:srgbClr val="F7F8FA"/>
          </a:solidFill>
          <a:ln>
            <a:solidFill>
              <a:srgbClr val="D2D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AA37A2-428D-A9C3-CAC2-8E22809CC525}"/>
              </a:ext>
            </a:extLst>
          </p:cNvPr>
          <p:cNvSpPr txBox="1"/>
          <p:nvPr/>
        </p:nvSpPr>
        <p:spPr>
          <a:xfrm>
            <a:off x="896112" y="4297680"/>
            <a:ext cx="1865376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dirty="0">
                <a:solidFill>
                  <a:srgbClr val="1F2D3D"/>
                </a:solidFill>
                <a:latin typeface="Aptos"/>
              </a:rPr>
              <a:t>Customers</a:t>
            </a:r>
          </a:p>
        </p:txBody>
      </p:sp>
      <p:sp>
        <p:nvSpPr>
          <p:cNvPr id="15" name="Rounded Rectangle 6">
            <a:extLst>
              <a:ext uri="{FF2B5EF4-FFF2-40B4-BE49-F238E27FC236}">
                <a16:creationId xmlns:a16="http://schemas.microsoft.com/office/drawing/2014/main" id="{5A7B19C2-9D83-B4D8-17EB-5DB46FA30A7B}"/>
              </a:ext>
            </a:extLst>
          </p:cNvPr>
          <p:cNvSpPr/>
          <p:nvPr/>
        </p:nvSpPr>
        <p:spPr>
          <a:xfrm>
            <a:off x="3337560" y="4160520"/>
            <a:ext cx="1828800" cy="640080"/>
          </a:xfrm>
          <a:prstGeom prst="roundRect">
            <a:avLst/>
          </a:prstGeom>
          <a:solidFill>
            <a:srgbClr val="F7F8FA"/>
          </a:solidFill>
          <a:ln>
            <a:solidFill>
              <a:srgbClr val="D2D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D1002E-98B8-D2EB-F3D0-87552ECD65B1}"/>
              </a:ext>
            </a:extLst>
          </p:cNvPr>
          <p:cNvSpPr txBox="1"/>
          <p:nvPr/>
        </p:nvSpPr>
        <p:spPr>
          <a:xfrm>
            <a:off x="3410712" y="4297680"/>
            <a:ext cx="1682496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dirty="0">
                <a:solidFill>
                  <a:srgbClr val="1F2D3D"/>
                </a:solidFill>
                <a:latin typeface="Aptos"/>
              </a:rPr>
              <a:t>Orders</a:t>
            </a:r>
          </a:p>
        </p:txBody>
      </p:sp>
      <p:sp>
        <p:nvSpPr>
          <p:cNvPr id="19" name="Rounded Rectangle 8">
            <a:extLst>
              <a:ext uri="{FF2B5EF4-FFF2-40B4-BE49-F238E27FC236}">
                <a16:creationId xmlns:a16="http://schemas.microsoft.com/office/drawing/2014/main" id="{41C39F33-1A61-AAE0-F84E-FC3F3B7C4D44}"/>
              </a:ext>
            </a:extLst>
          </p:cNvPr>
          <p:cNvSpPr/>
          <p:nvPr/>
        </p:nvSpPr>
        <p:spPr>
          <a:xfrm>
            <a:off x="5715000" y="4160520"/>
            <a:ext cx="2057400" cy="640080"/>
          </a:xfrm>
          <a:prstGeom prst="roundRect">
            <a:avLst/>
          </a:prstGeom>
          <a:solidFill>
            <a:srgbClr val="F7F8FA"/>
          </a:solidFill>
          <a:ln>
            <a:solidFill>
              <a:srgbClr val="D2D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0218AB-81AC-CAD5-FFF1-36259C8E0339}"/>
              </a:ext>
            </a:extLst>
          </p:cNvPr>
          <p:cNvSpPr txBox="1"/>
          <p:nvPr/>
        </p:nvSpPr>
        <p:spPr>
          <a:xfrm>
            <a:off x="5788152" y="4297680"/>
            <a:ext cx="1911095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F2D3D"/>
                </a:solidFill>
                <a:latin typeface="Aptos"/>
              </a:rPr>
              <a:t>Deliveries</a:t>
            </a:r>
          </a:p>
        </p:txBody>
      </p:sp>
      <p:sp>
        <p:nvSpPr>
          <p:cNvPr id="23" name="Rounded Rectangle 10">
            <a:extLst>
              <a:ext uri="{FF2B5EF4-FFF2-40B4-BE49-F238E27FC236}">
                <a16:creationId xmlns:a16="http://schemas.microsoft.com/office/drawing/2014/main" id="{0913648E-6E34-3FF9-2BCA-3220FD47AB4E}"/>
              </a:ext>
            </a:extLst>
          </p:cNvPr>
          <p:cNvSpPr/>
          <p:nvPr/>
        </p:nvSpPr>
        <p:spPr>
          <a:xfrm>
            <a:off x="8458200" y="3794760"/>
            <a:ext cx="1554480" cy="548640"/>
          </a:xfrm>
          <a:prstGeom prst="roundRect">
            <a:avLst/>
          </a:prstGeom>
          <a:solidFill>
            <a:srgbClr val="F7F8FA"/>
          </a:solidFill>
          <a:ln>
            <a:solidFill>
              <a:srgbClr val="D2D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12FF1D-095C-0870-41F5-455566CAB01C}"/>
              </a:ext>
            </a:extLst>
          </p:cNvPr>
          <p:cNvSpPr txBox="1"/>
          <p:nvPr/>
        </p:nvSpPr>
        <p:spPr>
          <a:xfrm>
            <a:off x="8531352" y="3931920"/>
            <a:ext cx="14081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F2D3D"/>
                </a:solidFill>
                <a:latin typeface="Aptos"/>
              </a:rPr>
              <a:t>Drivers</a:t>
            </a:r>
          </a:p>
        </p:txBody>
      </p:sp>
      <p:sp>
        <p:nvSpPr>
          <p:cNvPr id="27" name="Rounded Rectangle 12">
            <a:extLst>
              <a:ext uri="{FF2B5EF4-FFF2-40B4-BE49-F238E27FC236}">
                <a16:creationId xmlns:a16="http://schemas.microsoft.com/office/drawing/2014/main" id="{218BBC7F-73C2-2240-A39B-116FBB8F2838}"/>
              </a:ext>
            </a:extLst>
          </p:cNvPr>
          <p:cNvSpPr/>
          <p:nvPr/>
        </p:nvSpPr>
        <p:spPr>
          <a:xfrm>
            <a:off x="8458200" y="4617720"/>
            <a:ext cx="1554480" cy="548640"/>
          </a:xfrm>
          <a:prstGeom prst="roundRect">
            <a:avLst/>
          </a:prstGeom>
          <a:solidFill>
            <a:srgbClr val="F7F8FA"/>
          </a:solidFill>
          <a:ln>
            <a:solidFill>
              <a:srgbClr val="D2D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B554D82-5203-3530-472C-19A4B11DCFF5}"/>
              </a:ext>
            </a:extLst>
          </p:cNvPr>
          <p:cNvSpPr txBox="1"/>
          <p:nvPr/>
        </p:nvSpPr>
        <p:spPr>
          <a:xfrm>
            <a:off x="8531352" y="4754880"/>
            <a:ext cx="14081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F2D3D"/>
                </a:solidFill>
                <a:latin typeface="Aptos"/>
              </a:rPr>
              <a:t>Vehicles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B3BC69C-C60E-E847-3310-7CCF94A3C4BB}"/>
              </a:ext>
            </a:extLst>
          </p:cNvPr>
          <p:cNvSpPr txBox="1"/>
          <p:nvPr/>
        </p:nvSpPr>
        <p:spPr>
          <a:xfrm>
            <a:off x="2834640" y="4279392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C23E3E"/>
                </a:solidFill>
                <a:latin typeface="Aptos"/>
              </a:rPr>
              <a:t>→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73F824-FD7C-1385-E047-A7AEE0C027B2}"/>
              </a:ext>
            </a:extLst>
          </p:cNvPr>
          <p:cNvSpPr txBox="1"/>
          <p:nvPr/>
        </p:nvSpPr>
        <p:spPr>
          <a:xfrm>
            <a:off x="5303520" y="4279392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C23E3E"/>
                </a:solidFill>
                <a:latin typeface="Aptos"/>
              </a:rPr>
              <a:t>→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0232DAE-B81E-43E4-8BFD-E43178E8F75A}"/>
              </a:ext>
            </a:extLst>
          </p:cNvPr>
          <p:cNvSpPr txBox="1"/>
          <p:nvPr/>
        </p:nvSpPr>
        <p:spPr>
          <a:xfrm>
            <a:off x="7818120" y="4114800"/>
            <a:ext cx="5486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C23E3E"/>
                </a:solidFill>
                <a:latin typeface="Aptos"/>
              </a:rPr>
              <a:t>↘
↗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73A7684-BA0C-B243-88E8-C85BB7039660}"/>
              </a:ext>
            </a:extLst>
          </p:cNvPr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767E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1196465" y="1503371"/>
            <a:ext cx="1116002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58797" y="414083"/>
            <a:ext cx="6099600" cy="8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Business Objectives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10887F82-96A8-82D6-89BB-496FD329D108}"/>
              </a:ext>
            </a:extLst>
          </p:cNvPr>
          <p:cNvSpPr/>
          <p:nvPr/>
        </p:nvSpPr>
        <p:spPr>
          <a:xfrm>
            <a:off x="822960" y="1417320"/>
            <a:ext cx="438912" cy="438912"/>
          </a:xfrm>
          <a:prstGeom prst="ellipse">
            <a:avLst/>
          </a:prstGeom>
          <a:solidFill>
            <a:srgbClr val="C2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  <a:endParaRPr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0913109-212B-33FB-889B-A01D082347FC}"/>
              </a:ext>
            </a:extLst>
          </p:cNvPr>
          <p:cNvSpPr txBox="1"/>
          <p:nvPr/>
        </p:nvSpPr>
        <p:spPr>
          <a:xfrm>
            <a:off x="1389374" y="1470765"/>
            <a:ext cx="36446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</a:t>
            </a:r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Delivery Demand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93148BA-5D01-A64D-E826-E760969A7BB9}"/>
              </a:ext>
            </a:extLst>
          </p:cNvPr>
          <p:cNvSpPr txBox="1"/>
          <p:nvPr/>
        </p:nvSpPr>
        <p:spPr>
          <a:xfrm>
            <a:off x="5605228" y="1472695"/>
            <a:ext cx="693010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1800" dirty="0" err="1"/>
              <a:t>dentify</a:t>
            </a:r>
            <a:r>
              <a:rPr lang="en-IN" sz="1800" dirty="0"/>
              <a:t> high-volume zones, service types and priority categories.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A49CC856-7EF2-7EEB-80A9-02577BED9881}"/>
              </a:ext>
            </a:extLst>
          </p:cNvPr>
          <p:cNvSpPr/>
          <p:nvPr/>
        </p:nvSpPr>
        <p:spPr>
          <a:xfrm>
            <a:off x="822960" y="2286000"/>
            <a:ext cx="438912" cy="438912"/>
          </a:xfrm>
          <a:prstGeom prst="ellipse">
            <a:avLst/>
          </a:prstGeom>
          <a:solidFill>
            <a:srgbClr val="C2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D69F288-44FE-A712-A439-29321765D329}"/>
              </a:ext>
            </a:extLst>
          </p:cNvPr>
          <p:cNvSpPr txBox="1"/>
          <p:nvPr/>
        </p:nvSpPr>
        <p:spPr>
          <a:xfrm>
            <a:off x="888367" y="2350008"/>
            <a:ext cx="30809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52A94CE-2181-9057-AF5B-E942D85EE2C4}"/>
              </a:ext>
            </a:extLst>
          </p:cNvPr>
          <p:cNvSpPr txBox="1"/>
          <p:nvPr/>
        </p:nvSpPr>
        <p:spPr>
          <a:xfrm>
            <a:off x="1417320" y="2383081"/>
            <a:ext cx="39308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Customer Behaviour</a:t>
            </a:r>
            <a:endParaRPr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4D175B9-60E9-6981-9BF0-C3BF7FEA111B}"/>
              </a:ext>
            </a:extLst>
          </p:cNvPr>
          <p:cNvSpPr txBox="1"/>
          <p:nvPr/>
        </p:nvSpPr>
        <p:spPr>
          <a:xfrm>
            <a:off x="5823518" y="2373384"/>
            <a:ext cx="613341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1800" dirty="0"/>
              <a:t>Find repeat customers and </a:t>
            </a:r>
            <a:r>
              <a:rPr lang="en-IN" sz="1800" dirty="0" err="1"/>
              <a:t>analyze</a:t>
            </a:r>
            <a:r>
              <a:rPr lang="en-IN" sz="1800" dirty="0"/>
              <a:t> customer order value.</a:t>
            </a:r>
            <a:r>
              <a:rPr dirty="0"/>
              <a:t>.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A0DA96BC-573A-FBF9-39C5-2ED90780DCE9}"/>
              </a:ext>
            </a:extLst>
          </p:cNvPr>
          <p:cNvSpPr/>
          <p:nvPr/>
        </p:nvSpPr>
        <p:spPr>
          <a:xfrm>
            <a:off x="822960" y="3154680"/>
            <a:ext cx="438912" cy="438912"/>
          </a:xfrm>
          <a:prstGeom prst="ellipse">
            <a:avLst/>
          </a:prstGeom>
          <a:solidFill>
            <a:srgbClr val="C2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6D5D6E1-2CB2-8B23-3ABB-7B09FF915810}"/>
              </a:ext>
            </a:extLst>
          </p:cNvPr>
          <p:cNvSpPr txBox="1"/>
          <p:nvPr/>
        </p:nvSpPr>
        <p:spPr>
          <a:xfrm>
            <a:off x="888367" y="3218688"/>
            <a:ext cx="30809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C7E11F0-49E9-AD1F-8507-3932B71116D3}"/>
              </a:ext>
            </a:extLst>
          </p:cNvPr>
          <p:cNvSpPr txBox="1"/>
          <p:nvPr/>
        </p:nvSpPr>
        <p:spPr>
          <a:xfrm>
            <a:off x="1417320" y="3136392"/>
            <a:ext cx="326403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Measure Delivery Performance</a:t>
            </a:r>
            <a:endParaRPr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66D2B01-D351-4C9E-231B-E08834A68420}"/>
              </a:ext>
            </a:extLst>
          </p:cNvPr>
          <p:cNvSpPr txBox="1"/>
          <p:nvPr/>
        </p:nvSpPr>
        <p:spPr>
          <a:xfrm>
            <a:off x="5755772" y="3120259"/>
            <a:ext cx="617829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Evaluate successful, failed, pending and rescheduled deliveries.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879F6021-EFEB-6BF9-EE78-E50A0CAFA2CC}"/>
              </a:ext>
            </a:extLst>
          </p:cNvPr>
          <p:cNvSpPr/>
          <p:nvPr/>
        </p:nvSpPr>
        <p:spPr>
          <a:xfrm>
            <a:off x="822960" y="4023360"/>
            <a:ext cx="438912" cy="438912"/>
          </a:xfrm>
          <a:prstGeom prst="ellipse">
            <a:avLst/>
          </a:prstGeom>
          <a:solidFill>
            <a:srgbClr val="C2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1DFDC9ED-050D-AC2B-C5BA-061556B92C36}"/>
              </a:ext>
            </a:extLst>
          </p:cNvPr>
          <p:cNvSpPr txBox="1"/>
          <p:nvPr/>
        </p:nvSpPr>
        <p:spPr>
          <a:xfrm>
            <a:off x="888367" y="4087368"/>
            <a:ext cx="30809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4DDD73B4-36B8-8818-5427-FBCAA92295F1}"/>
              </a:ext>
            </a:extLst>
          </p:cNvPr>
          <p:cNvSpPr txBox="1"/>
          <p:nvPr/>
        </p:nvSpPr>
        <p:spPr>
          <a:xfrm>
            <a:off x="1417320" y="4005072"/>
            <a:ext cx="341632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1800" b="1" dirty="0"/>
              <a:t>Evaluate Resource Utilization</a:t>
            </a:r>
            <a:endParaRPr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72025F5-F482-72FC-6EE4-14BBB41BE7FB}"/>
              </a:ext>
            </a:extLst>
          </p:cNvPr>
          <p:cNvSpPr txBox="1"/>
          <p:nvPr/>
        </p:nvSpPr>
        <p:spPr>
          <a:xfrm>
            <a:off x="5832794" y="4005072"/>
            <a:ext cx="467948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1800" dirty="0" err="1"/>
              <a:t>Analyze</a:t>
            </a:r>
            <a:r>
              <a:rPr lang="en-IN" sz="1800" dirty="0"/>
              <a:t> driver workload and vehicle usage.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7166CFB4-7AC0-4E62-A3C5-6C74136BB2FF}"/>
              </a:ext>
            </a:extLst>
          </p:cNvPr>
          <p:cNvSpPr/>
          <p:nvPr/>
        </p:nvSpPr>
        <p:spPr>
          <a:xfrm>
            <a:off x="822960" y="4892040"/>
            <a:ext cx="438912" cy="438912"/>
          </a:xfrm>
          <a:prstGeom prst="ellipse">
            <a:avLst/>
          </a:prstGeom>
          <a:solidFill>
            <a:srgbClr val="C2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8E8889A8-8669-D0BE-1608-3D76FC5460B7}"/>
              </a:ext>
            </a:extLst>
          </p:cNvPr>
          <p:cNvSpPr txBox="1"/>
          <p:nvPr/>
        </p:nvSpPr>
        <p:spPr>
          <a:xfrm>
            <a:off x="888367" y="4956048"/>
            <a:ext cx="30809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C6C6E5D-933A-3F7C-B84E-63C724B0AD46}"/>
              </a:ext>
            </a:extLst>
          </p:cNvPr>
          <p:cNvSpPr txBox="1"/>
          <p:nvPr/>
        </p:nvSpPr>
        <p:spPr>
          <a:xfrm>
            <a:off x="1417320" y="4873752"/>
            <a:ext cx="301877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1800" b="1" dirty="0"/>
              <a:t>Detect Operational Issues</a:t>
            </a:r>
            <a:endParaRPr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332F6EE-90E1-A734-A47B-73FA3FB9AB4F}"/>
              </a:ext>
            </a:extLst>
          </p:cNvPr>
          <p:cNvSpPr txBox="1"/>
          <p:nvPr/>
        </p:nvSpPr>
        <p:spPr>
          <a:xfrm>
            <a:off x="5910333" y="4889885"/>
            <a:ext cx="5869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Identify repeated delivery attempts and zones with higher delivery problems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4F514E34-7002-9B8C-9F02-BB3D1BF72C17}"/>
              </a:ext>
            </a:extLst>
          </p:cNvPr>
          <p:cNvSpPr/>
          <p:nvPr/>
        </p:nvSpPr>
        <p:spPr>
          <a:xfrm>
            <a:off x="458797" y="1060668"/>
            <a:ext cx="10972800" cy="32004"/>
          </a:xfrm>
          <a:prstGeom prst="rect">
            <a:avLst/>
          </a:prstGeom>
          <a:solidFill>
            <a:srgbClr val="C2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427656" y="416554"/>
            <a:ext cx="6099600" cy="8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Dataset &amp; Database Overview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BB4F3C-E491-8F6F-45CD-242581B17A2B}"/>
              </a:ext>
            </a:extLst>
          </p:cNvPr>
          <p:cNvSpPr/>
          <p:nvPr/>
        </p:nvSpPr>
        <p:spPr>
          <a:xfrm>
            <a:off x="8112642" y="1755360"/>
            <a:ext cx="3221665" cy="1540733"/>
          </a:xfrm>
          <a:prstGeom prst="rect">
            <a:avLst/>
          </a:prstGeom>
          <a:solidFill>
            <a:srgbClr val="FCF9F9"/>
          </a:solidFill>
          <a:ln>
            <a:solidFill>
              <a:srgbClr val="E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C23E3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Observation</a:t>
            </a:r>
          </a:p>
          <a:p>
            <a:pPr>
              <a:spcBef>
                <a:spcPts val="400"/>
              </a:spcBef>
              <a:defRPr sz="1200">
                <a:solidFill>
                  <a:srgbClr val="232323"/>
                </a:solidFill>
                <a:latin typeface="Aptos"/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3,500 deliveries are recorded for 3,000 orders, so some orders have more than one delivery record.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657E32-C5F8-915F-23AE-274F83C26181}"/>
              </a:ext>
            </a:extLst>
          </p:cNvPr>
          <p:cNvSpPr/>
          <p:nvPr/>
        </p:nvSpPr>
        <p:spPr>
          <a:xfrm>
            <a:off x="8112641" y="3720180"/>
            <a:ext cx="3221665" cy="1309020"/>
          </a:xfrm>
          <a:prstGeom prst="rect">
            <a:avLst/>
          </a:prstGeom>
          <a:solidFill>
            <a:srgbClr val="F9FAFC"/>
          </a:solidFill>
          <a:ln>
            <a:solidFill>
              <a:srgbClr val="E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C23E3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Finding</a:t>
            </a:r>
          </a:p>
          <a:p>
            <a:pPr>
              <a:spcBef>
                <a:spcPts val="400"/>
              </a:spcBef>
              <a:defRPr sz="1200">
                <a:solidFill>
                  <a:srgbClr val="232323"/>
                </a:solidFill>
                <a:latin typeface="Aptos"/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five tables are connected through IDs (keys).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64DDA0-E42E-2A97-5BBC-D5927B2E30B8}"/>
              </a:ext>
            </a:extLst>
          </p:cNvPr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767E"/>
                </a:solidFill>
                <a:latin typeface="Aptos"/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209C2A5-3781-B169-0507-8362EE3A466C}"/>
              </a:ext>
            </a:extLst>
          </p:cNvPr>
          <p:cNvSpPr/>
          <p:nvPr/>
        </p:nvSpPr>
        <p:spPr>
          <a:xfrm>
            <a:off x="458797" y="1060668"/>
            <a:ext cx="10972800" cy="32004"/>
          </a:xfrm>
          <a:prstGeom prst="rect">
            <a:avLst/>
          </a:prstGeom>
          <a:solidFill>
            <a:srgbClr val="C2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BF44EB4-FE26-731F-3C75-17BD331041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041730"/>
              </p:ext>
            </p:extLst>
          </p:nvPr>
        </p:nvGraphicFramePr>
        <p:xfrm>
          <a:off x="376275" y="2319788"/>
          <a:ext cx="7406167" cy="23707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1153">
                  <a:extLst>
                    <a:ext uri="{9D8B030D-6E8A-4147-A177-3AD203B41FA5}">
                      <a16:colId xmlns:a16="http://schemas.microsoft.com/office/drawing/2014/main" val="1890842383"/>
                    </a:ext>
                  </a:extLst>
                </a:gridCol>
                <a:gridCol w="3307513">
                  <a:extLst>
                    <a:ext uri="{9D8B030D-6E8A-4147-A177-3AD203B41FA5}">
                      <a16:colId xmlns:a16="http://schemas.microsoft.com/office/drawing/2014/main" val="1232106843"/>
                    </a:ext>
                  </a:extLst>
                </a:gridCol>
                <a:gridCol w="1987501">
                  <a:extLst>
                    <a:ext uri="{9D8B030D-6E8A-4147-A177-3AD203B41FA5}">
                      <a16:colId xmlns:a16="http://schemas.microsoft.com/office/drawing/2014/main" val="7199349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Records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3393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Customer information and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400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8594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Order details, value, service and priority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3,000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3130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Deliveries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Delivery status, duration and attempts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3,500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224144"/>
                  </a:ext>
                </a:extLst>
              </a:tr>
              <a:tr h="370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Drivers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Driver information and availability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1072426"/>
                  </a:ext>
                </a:extLst>
              </a:tr>
              <a:tr h="370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Vehicles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Vehicle details and 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396948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552893" y="1361062"/>
            <a:ext cx="3484919" cy="326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000" b="1" dirty="0">
                <a:solidFill>
                  <a:schemeClr val="tx2">
                    <a:lumMod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 Relationships</a:t>
            </a:r>
          </a:p>
          <a:p>
            <a:pPr>
              <a:spcAft>
                <a:spcPts val="8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Customers → Orders</a:t>
            </a:r>
          </a:p>
          <a:p>
            <a:pPr>
              <a:spcAft>
                <a:spcPts val="8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Orders → Deliveries</a:t>
            </a:r>
          </a:p>
          <a:p>
            <a:pPr>
              <a:spcAft>
                <a:spcPts val="8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Drivers → Deliveries</a:t>
            </a:r>
          </a:p>
          <a:p>
            <a:pPr>
              <a:spcAft>
                <a:spcPts val="8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Vehicles → Deliveries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None/>
            </a:pP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lang="en-IN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Primary Keys</a:t>
            </a:r>
            <a:endParaRPr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8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customer_id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order_id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800"/>
              </a:spcAft>
              <a:defRPr sz="1300">
                <a:solidFill>
                  <a:srgbClr val="232323"/>
                </a:solidFill>
                <a:latin typeface="Aptos"/>
              </a:defRPr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delivery_id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driver_id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vehicle_id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10279330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ER Diagram &amp; Database Structure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ER Diagram"/>
          <p:cNvPicPr preferRelativeResize="0"/>
          <p:nvPr/>
        </p:nvPicPr>
        <p:blipFill rotWithShape="1">
          <a:blip r:embed="rId2"/>
          <a:srcRect/>
          <a:stretch/>
        </p:blipFill>
        <p:spPr>
          <a:xfrm>
            <a:off x="4333744" y="1250539"/>
            <a:ext cx="6948997" cy="454679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C52168E-39A6-AAE3-F0AA-5EEFB1EEBC6F}"/>
              </a:ext>
            </a:extLst>
          </p:cNvPr>
          <p:cNvSpPr/>
          <p:nvPr/>
        </p:nvSpPr>
        <p:spPr>
          <a:xfrm>
            <a:off x="458797" y="1060668"/>
            <a:ext cx="10972800" cy="32004"/>
          </a:xfrm>
          <a:prstGeom prst="rect">
            <a:avLst/>
          </a:prstGeom>
          <a:solidFill>
            <a:srgbClr val="C2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353228" y="492982"/>
            <a:ext cx="6099600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28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Basic Analysis</a:t>
            </a: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: </a:t>
            </a:r>
            <a:r>
              <a:rPr lang="en-IN" sz="3200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SQL Check</a:t>
            </a:r>
            <a:endParaRPr sz="32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134D98-E160-45E2-4316-1CED8822A640}"/>
              </a:ext>
            </a:extLst>
          </p:cNvPr>
          <p:cNvSpPr/>
          <p:nvPr/>
        </p:nvSpPr>
        <p:spPr>
          <a:xfrm>
            <a:off x="458797" y="1060668"/>
            <a:ext cx="10972800" cy="32004"/>
          </a:xfrm>
          <a:prstGeom prst="rect">
            <a:avLst/>
          </a:prstGeom>
          <a:solidFill>
            <a:srgbClr val="C2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D521F5-4A83-5700-33BC-76FE142F6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97" y="1386626"/>
            <a:ext cx="4486901" cy="5334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EEA132-C5F4-14DA-A715-973673C16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23331"/>
            <a:ext cx="1437601" cy="9677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562836-550F-3D2E-F0FB-A0452A5A41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797" y="2346851"/>
            <a:ext cx="3953427" cy="5048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A318A7-1ACC-6ED1-17D4-6F75E0D016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8394" y="2159848"/>
            <a:ext cx="1524213" cy="7906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3725F1C-5CB3-630D-1161-BF90B277D9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821" y="3262548"/>
            <a:ext cx="4544059" cy="49536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FD39709-2061-4916-0D47-D1CCC43154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3065863"/>
            <a:ext cx="1629002" cy="55252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DF5A0DC-D0D0-556E-A88D-39B27C95FA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3228" y="4357816"/>
            <a:ext cx="3734321" cy="51442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E10A106-4310-2DF9-5C23-476222E63A8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48394" y="3782042"/>
            <a:ext cx="1381318" cy="134321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FEE80C7-0F82-3E1A-CF06-B639202CEE5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3228" y="5316681"/>
            <a:ext cx="6106377" cy="50489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5D84FB1-39E6-03FB-8A42-FB54DFCF531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8448" y="5344457"/>
            <a:ext cx="1419423" cy="50489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21871E5-4656-E436-D979-813AE52F2750}"/>
              </a:ext>
            </a:extLst>
          </p:cNvPr>
          <p:cNvSpPr txBox="1"/>
          <p:nvPr/>
        </p:nvSpPr>
        <p:spPr>
          <a:xfrm>
            <a:off x="7872754" y="2818739"/>
            <a:ext cx="372139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b="1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Key 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repeat customer activity </a:t>
            </a:r>
            <a:endParaRPr lang="en-IN" sz="16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Delivery volume exceeds order volume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Multiple service options support varied customer needs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 capacity is crucial for operations 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04B6CDB-96C2-09B8-649C-69982924FEB5}"/>
              </a:ext>
            </a:extLst>
          </p:cNvPr>
          <p:cNvSpPr txBox="1"/>
          <p:nvPr/>
        </p:nvSpPr>
        <p:spPr>
          <a:xfrm>
            <a:off x="7872754" y="1653363"/>
            <a:ext cx="3168502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tx2">
                    <a:lumMod val="10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Key Findings: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400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customers and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3,000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orders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3,500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delivery records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service types available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75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active drivers 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256779" y="374087"/>
            <a:ext cx="9003423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28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Analysis of the Objectives</a:t>
            </a:r>
            <a:r>
              <a:rPr lang="en-IN" sz="18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:  </a:t>
            </a: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Delivery demand</a:t>
            </a: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E61C64-FABD-323E-0B6A-EE393AD794C3}"/>
              </a:ext>
            </a:extLst>
          </p:cNvPr>
          <p:cNvSpPr/>
          <p:nvPr/>
        </p:nvSpPr>
        <p:spPr>
          <a:xfrm>
            <a:off x="256779" y="972913"/>
            <a:ext cx="10972800" cy="32004"/>
          </a:xfrm>
          <a:prstGeom prst="rect">
            <a:avLst/>
          </a:prstGeom>
          <a:solidFill>
            <a:srgbClr val="C2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1F375E2-FA8B-FE61-95E4-E16EF090E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6907" y="1205312"/>
            <a:ext cx="1654468" cy="182496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14B1402-251B-35E7-3A72-09FD91BD2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9315" y="3429000"/>
            <a:ext cx="1975213" cy="123869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8766295-E98D-9E97-6A2B-A2DFA2649E34}"/>
              </a:ext>
            </a:extLst>
          </p:cNvPr>
          <p:cNvSpPr txBox="1"/>
          <p:nvPr/>
        </p:nvSpPr>
        <p:spPr>
          <a:xfrm>
            <a:off x="256779" y="1205311"/>
            <a:ext cx="2544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 By Zone: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2505C1-B037-97F5-EAE3-39F5AD728113}"/>
              </a:ext>
            </a:extLst>
          </p:cNvPr>
          <p:cNvSpPr txBox="1"/>
          <p:nvPr/>
        </p:nvSpPr>
        <p:spPr>
          <a:xfrm>
            <a:off x="256779" y="3205676"/>
            <a:ext cx="3055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 by Service Type: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F4F424-A0AB-F70B-950E-2C2DFBD3C4B3}"/>
              </a:ext>
            </a:extLst>
          </p:cNvPr>
          <p:cNvSpPr txBox="1"/>
          <p:nvPr/>
        </p:nvSpPr>
        <p:spPr>
          <a:xfrm>
            <a:off x="256779" y="4804457"/>
            <a:ext cx="2927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 by Priority: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90A5BD7-009A-102D-B2F3-5E57C73772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9315" y="5135684"/>
            <a:ext cx="1886213" cy="93358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323A6FA5-7D7B-CD97-9593-594A435977EB}"/>
              </a:ext>
            </a:extLst>
          </p:cNvPr>
          <p:cNvSpPr txBox="1"/>
          <p:nvPr/>
        </p:nvSpPr>
        <p:spPr>
          <a:xfrm>
            <a:off x="7143441" y="1680759"/>
            <a:ext cx="40861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tx2">
                    <a:lumMod val="10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Key Findings: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ZONE0005 generated the highest demand —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240 orders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 service recorded the highest volume —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620 orders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High-priority orders led demand —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1,035 orders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endParaRPr lang="en-IN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C1B23FA-D5FF-8286-57CB-E8DE298AF9F4}"/>
              </a:ext>
            </a:extLst>
          </p:cNvPr>
          <p:cNvSpPr txBox="1"/>
          <p:nvPr/>
        </p:nvSpPr>
        <p:spPr>
          <a:xfrm>
            <a:off x="7143441" y="3849317"/>
            <a:ext cx="39994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Key 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Demand is concentrated in specific zones, while Standard service and High priority dominate order volume.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E98841-B257-C074-8910-FEC9B19D25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963" y="1690607"/>
            <a:ext cx="3980080" cy="11242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A9B82E-A635-AE49-D172-BD76B0ACE1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945" y="3772218"/>
            <a:ext cx="3732625" cy="8954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A95C9CD-3DF8-6DD5-738A-47C99860A6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945" y="5310553"/>
            <a:ext cx="3448531" cy="895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161086" y="415881"/>
            <a:ext cx="6099600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  Customer Order Behaviour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0BF1E3-3829-C84D-7840-3F30619CDDDE}"/>
              </a:ext>
            </a:extLst>
          </p:cNvPr>
          <p:cNvSpPr/>
          <p:nvPr/>
        </p:nvSpPr>
        <p:spPr>
          <a:xfrm>
            <a:off x="267412" y="964973"/>
            <a:ext cx="10972800" cy="32004"/>
          </a:xfrm>
          <a:prstGeom prst="rect">
            <a:avLst/>
          </a:prstGeom>
          <a:solidFill>
            <a:srgbClr val="C2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CA976D-2D0C-E4D9-73C4-DBA2E4B14D5C}"/>
              </a:ext>
            </a:extLst>
          </p:cNvPr>
          <p:cNvSpPr txBox="1"/>
          <p:nvPr/>
        </p:nvSpPr>
        <p:spPr>
          <a:xfrm>
            <a:off x="384370" y="1046761"/>
            <a:ext cx="3868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Customers by Orders: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3DEC54-FDAC-BBC1-ED93-C45985FAA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6488" y="1441729"/>
            <a:ext cx="3686689" cy="14765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EA985A-260D-23F2-46EC-2A28C03933F1}"/>
              </a:ext>
            </a:extLst>
          </p:cNvPr>
          <p:cNvSpPr txBox="1"/>
          <p:nvPr/>
        </p:nvSpPr>
        <p:spPr>
          <a:xfrm>
            <a:off x="490695" y="3751208"/>
            <a:ext cx="376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Customers by Order Value: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C610075-466D-D0DA-298F-3C3531CB6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283" y="4371770"/>
            <a:ext cx="4127929" cy="12792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7F4D98-030F-BBEA-4191-C810EBF286B6}"/>
              </a:ext>
            </a:extLst>
          </p:cNvPr>
          <p:cNvSpPr txBox="1"/>
          <p:nvPr/>
        </p:nvSpPr>
        <p:spPr>
          <a:xfrm>
            <a:off x="760659" y="1320987"/>
            <a:ext cx="6097772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</a:t>
            </a:r>
          </a:p>
          <a:p>
            <a:r>
              <a:rPr lang="en-IN" dirty="0"/>
              <a:t>    </a:t>
            </a:r>
            <a:r>
              <a:rPr lang="en-IN" dirty="0" err="1"/>
              <a:t>c.customer_id</a:t>
            </a:r>
            <a:r>
              <a:rPr lang="en-IN" dirty="0"/>
              <a:t>,</a:t>
            </a:r>
          </a:p>
          <a:p>
            <a:r>
              <a:rPr lang="en-IN" dirty="0"/>
              <a:t>    </a:t>
            </a:r>
            <a:r>
              <a:rPr lang="en-IN" dirty="0" err="1"/>
              <a:t>c.customer_name</a:t>
            </a:r>
            <a:r>
              <a:rPr lang="en-IN" dirty="0"/>
              <a:t>,</a:t>
            </a:r>
          </a:p>
          <a:p>
            <a:r>
              <a:rPr lang="en-IN" dirty="0"/>
              <a:t>    COUNT(</a:t>
            </a:r>
            <a:r>
              <a:rPr lang="en-IN" dirty="0" err="1"/>
              <a:t>o.order_id</a:t>
            </a:r>
            <a:r>
              <a:rPr lang="en-IN" dirty="0"/>
              <a:t>) AS </a:t>
            </a:r>
            <a:r>
              <a:rPr lang="en-IN" dirty="0" err="1"/>
              <a:t>order_count</a:t>
            </a:r>
            <a:endParaRPr lang="en-IN" dirty="0"/>
          </a:p>
          <a:p>
            <a:r>
              <a:rPr lang="en-IN" dirty="0"/>
              <a:t>FROM customers c</a:t>
            </a:r>
          </a:p>
          <a:p>
            <a:r>
              <a:rPr lang="en-IN" dirty="0"/>
              <a:t>JOIN orders o</a:t>
            </a:r>
          </a:p>
          <a:p>
            <a:r>
              <a:rPr lang="en-IN" dirty="0"/>
              <a:t>    ON </a:t>
            </a:r>
            <a:r>
              <a:rPr lang="en-IN" dirty="0" err="1"/>
              <a:t>c.customer_id</a:t>
            </a:r>
            <a:r>
              <a:rPr lang="en-IN" dirty="0"/>
              <a:t> = </a:t>
            </a:r>
            <a:r>
              <a:rPr lang="en-IN" dirty="0" err="1"/>
              <a:t>o.customer_id</a:t>
            </a:r>
            <a:endParaRPr lang="en-IN" dirty="0"/>
          </a:p>
          <a:p>
            <a:r>
              <a:rPr lang="en-IN" dirty="0"/>
              <a:t>GROUP BY</a:t>
            </a:r>
          </a:p>
          <a:p>
            <a:r>
              <a:rPr lang="en-IN" dirty="0"/>
              <a:t>    </a:t>
            </a:r>
            <a:r>
              <a:rPr lang="en-IN" dirty="0" err="1"/>
              <a:t>c.customer_id</a:t>
            </a:r>
            <a:r>
              <a:rPr lang="en-IN" dirty="0"/>
              <a:t>,</a:t>
            </a:r>
          </a:p>
          <a:p>
            <a:r>
              <a:rPr lang="en-IN" dirty="0"/>
              <a:t>    </a:t>
            </a:r>
            <a:r>
              <a:rPr lang="en-IN" dirty="0" err="1"/>
              <a:t>c.customer_name</a:t>
            </a:r>
            <a:endParaRPr lang="en-IN" dirty="0"/>
          </a:p>
          <a:p>
            <a:r>
              <a:rPr lang="en-IN" dirty="0"/>
              <a:t>ORDER BY </a:t>
            </a:r>
            <a:r>
              <a:rPr lang="en-IN" dirty="0" err="1"/>
              <a:t>order_count</a:t>
            </a:r>
            <a:r>
              <a:rPr lang="en-IN" dirty="0"/>
              <a:t> DESC;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681C8F-0010-F8DA-C697-B113BE1944BD}"/>
              </a:ext>
            </a:extLst>
          </p:cNvPr>
          <p:cNvSpPr txBox="1"/>
          <p:nvPr/>
        </p:nvSpPr>
        <p:spPr>
          <a:xfrm>
            <a:off x="760659" y="4107210"/>
            <a:ext cx="609777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SELECT</a:t>
            </a:r>
          </a:p>
          <a:p>
            <a:r>
              <a:rPr lang="en-IN" dirty="0"/>
              <a:t>    </a:t>
            </a:r>
            <a:r>
              <a:rPr lang="en-IN" dirty="0" err="1"/>
              <a:t>c.customer_id</a:t>
            </a:r>
            <a:r>
              <a:rPr lang="en-IN" dirty="0"/>
              <a:t>,</a:t>
            </a:r>
          </a:p>
          <a:p>
            <a:r>
              <a:rPr lang="en-IN" dirty="0"/>
              <a:t>    </a:t>
            </a:r>
            <a:r>
              <a:rPr lang="en-IN" dirty="0" err="1"/>
              <a:t>c.customer_name</a:t>
            </a:r>
            <a:r>
              <a:rPr lang="en-IN" dirty="0"/>
              <a:t>,</a:t>
            </a:r>
          </a:p>
          <a:p>
            <a:r>
              <a:rPr lang="en-IN" dirty="0"/>
              <a:t>    ROUND(SUM(</a:t>
            </a:r>
            <a:r>
              <a:rPr lang="en-IN" dirty="0" err="1"/>
              <a:t>o.total_value</a:t>
            </a:r>
            <a:r>
              <a:rPr lang="en-IN" dirty="0"/>
              <a:t>), 2)</a:t>
            </a:r>
          </a:p>
          <a:p>
            <a:r>
              <a:rPr lang="en-IN" dirty="0"/>
              <a:t>        AS </a:t>
            </a:r>
            <a:r>
              <a:rPr lang="en-IN" dirty="0" err="1"/>
              <a:t>cumulative_order_value</a:t>
            </a:r>
            <a:endParaRPr lang="en-IN" dirty="0"/>
          </a:p>
          <a:p>
            <a:r>
              <a:rPr lang="en-IN" dirty="0"/>
              <a:t>FROM customers c</a:t>
            </a:r>
          </a:p>
          <a:p>
            <a:r>
              <a:rPr lang="en-IN" dirty="0"/>
              <a:t>JOIN orders o</a:t>
            </a:r>
          </a:p>
          <a:p>
            <a:r>
              <a:rPr lang="en-IN" dirty="0"/>
              <a:t>    ON </a:t>
            </a:r>
            <a:r>
              <a:rPr lang="en-IN" dirty="0" err="1"/>
              <a:t>c.customer_id</a:t>
            </a:r>
            <a:r>
              <a:rPr lang="en-IN" dirty="0"/>
              <a:t> = </a:t>
            </a:r>
            <a:r>
              <a:rPr lang="en-IN" dirty="0" err="1"/>
              <a:t>o.customer_id</a:t>
            </a:r>
            <a:endParaRPr lang="en-IN" dirty="0"/>
          </a:p>
          <a:p>
            <a:r>
              <a:rPr lang="en-IN" dirty="0"/>
              <a:t>GROUP BY</a:t>
            </a:r>
          </a:p>
          <a:p>
            <a:r>
              <a:rPr lang="en-IN" dirty="0"/>
              <a:t>    </a:t>
            </a:r>
            <a:r>
              <a:rPr lang="en-IN" dirty="0" err="1"/>
              <a:t>c.customer_id</a:t>
            </a:r>
            <a:r>
              <a:rPr lang="en-IN" dirty="0"/>
              <a:t>,</a:t>
            </a:r>
          </a:p>
          <a:p>
            <a:r>
              <a:rPr lang="en-IN" dirty="0"/>
              <a:t>    </a:t>
            </a:r>
            <a:r>
              <a:rPr lang="en-IN" dirty="0" err="1"/>
              <a:t>c.customer_name</a:t>
            </a:r>
            <a:endParaRPr lang="en-IN" dirty="0"/>
          </a:p>
          <a:p>
            <a:r>
              <a:rPr lang="en-IN" dirty="0"/>
              <a:t>ORDER BY </a:t>
            </a:r>
            <a:r>
              <a:rPr lang="en-IN" dirty="0" err="1"/>
              <a:t>cumulative_order_value</a:t>
            </a:r>
            <a:r>
              <a:rPr lang="en-IN" dirty="0"/>
              <a:t> DESC;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321330" y="418672"/>
            <a:ext cx="6099600" cy="8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Delivery Performance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E02FD8-B3E1-7438-D3C3-64178C52C0BD}"/>
              </a:ext>
            </a:extLst>
          </p:cNvPr>
          <p:cNvSpPr/>
          <p:nvPr/>
        </p:nvSpPr>
        <p:spPr>
          <a:xfrm>
            <a:off x="235513" y="964975"/>
            <a:ext cx="10972800" cy="32004"/>
          </a:xfrm>
          <a:prstGeom prst="rect">
            <a:avLst/>
          </a:prstGeom>
          <a:solidFill>
            <a:srgbClr val="C2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3B6A09-1665-C684-20ED-D9E2C44BA836}"/>
              </a:ext>
            </a:extLst>
          </p:cNvPr>
          <p:cNvSpPr txBox="1"/>
          <p:nvPr/>
        </p:nvSpPr>
        <p:spPr>
          <a:xfrm>
            <a:off x="925032" y="4116776"/>
            <a:ext cx="8888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4AAF8F-2E84-D279-DABB-6C5C6E2D8255}"/>
              </a:ext>
            </a:extLst>
          </p:cNvPr>
          <p:cNvSpPr txBox="1"/>
          <p:nvPr/>
        </p:nvSpPr>
        <p:spPr>
          <a:xfrm>
            <a:off x="393405" y="1299172"/>
            <a:ext cx="10972800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delivery data was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analyzed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measure operational success and identify areas requiring   improvement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Performance Summary</a:t>
            </a:r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Total delivery records </a:t>
            </a: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analyzed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3,500 .</a:t>
            </a:r>
          </a:p>
          <a:p>
            <a:pPr lvl="0"/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Successfully delivered: 73.7%. </a:t>
            </a:r>
          </a:p>
          <a:p>
            <a:pPr lvl="0"/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Pending, failed or rescheduled: 26.3% .</a:t>
            </a:r>
          </a:p>
          <a:p>
            <a:pPr lvl="0"/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Average delivery duration: 47.2 minutes. </a:t>
            </a:r>
          </a:p>
          <a:p>
            <a:pPr lvl="0"/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ZONE0020 recorded the highest reported delivery problem rate.</a:t>
            </a:r>
          </a:p>
          <a:p>
            <a:pPr lvl="0"/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Although most deliveries are completed successfully, unresolved deliveries create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workload and may affect customer satisfaction.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353227" y="356854"/>
            <a:ext cx="6099600" cy="8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Driver &amp; Vehicle Performance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B8385F-9DA2-0099-D703-5FBE9BDCB7A6}"/>
              </a:ext>
            </a:extLst>
          </p:cNvPr>
          <p:cNvSpPr/>
          <p:nvPr/>
        </p:nvSpPr>
        <p:spPr>
          <a:xfrm>
            <a:off x="214248" y="986240"/>
            <a:ext cx="10972800" cy="32004"/>
          </a:xfrm>
          <a:prstGeom prst="rect">
            <a:avLst/>
          </a:prstGeom>
          <a:solidFill>
            <a:srgbClr val="C2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C563C810-BDCF-279A-EEDD-B3B65BD85F6C}"/>
              </a:ext>
            </a:extLst>
          </p:cNvPr>
          <p:cNvSpPr/>
          <p:nvPr/>
        </p:nvSpPr>
        <p:spPr>
          <a:xfrm>
            <a:off x="461882" y="1508760"/>
            <a:ext cx="2029222" cy="1189922"/>
          </a:xfrm>
          <a:prstGeom prst="roundRect">
            <a:avLst/>
          </a:prstGeom>
          <a:solidFill>
            <a:srgbClr val="F6F7F9"/>
          </a:solidFill>
          <a:ln>
            <a:solidFill>
              <a:srgbClr val="D7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33087D-AA0B-F691-2DEF-439ECAEFE279}"/>
              </a:ext>
            </a:extLst>
          </p:cNvPr>
          <p:cNvSpPr txBox="1"/>
          <p:nvPr/>
        </p:nvSpPr>
        <p:spPr>
          <a:xfrm>
            <a:off x="534551" y="1610973"/>
            <a:ext cx="227685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</a:t>
            </a: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WORKLOAD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BE6E0C-4B6B-3597-ED8B-77DABC9CB8D4}"/>
              </a:ext>
            </a:extLst>
          </p:cNvPr>
          <p:cNvSpPr txBox="1"/>
          <p:nvPr/>
        </p:nvSpPr>
        <p:spPr>
          <a:xfrm>
            <a:off x="214248" y="1918750"/>
            <a:ext cx="2276856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1E1E1E"/>
                </a:solidFill>
                <a:latin typeface="Aptos"/>
              </a:rPr>
              <a:t>68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1A9BA9-A481-AF5B-1CE4-2D803C2841C7}"/>
              </a:ext>
            </a:extLst>
          </p:cNvPr>
          <p:cNvSpPr txBox="1"/>
          <p:nvPr/>
        </p:nvSpPr>
        <p:spPr>
          <a:xfrm>
            <a:off x="0" y="2357662"/>
            <a:ext cx="2690357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0" dirty="0">
                <a:solidFill>
                  <a:srgbClr val="1E1E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DRV00073</a:t>
            </a:r>
          </a:p>
        </p:txBody>
      </p:sp>
      <p:sp>
        <p:nvSpPr>
          <p:cNvPr id="22" name="Rounded Rectangle 8">
            <a:extLst>
              <a:ext uri="{FF2B5EF4-FFF2-40B4-BE49-F238E27FC236}">
                <a16:creationId xmlns:a16="http://schemas.microsoft.com/office/drawing/2014/main" id="{811B88E0-1FB2-763F-9CB7-822CF1C2A094}"/>
              </a:ext>
            </a:extLst>
          </p:cNvPr>
          <p:cNvSpPr/>
          <p:nvPr/>
        </p:nvSpPr>
        <p:spPr>
          <a:xfrm>
            <a:off x="2930651" y="1510887"/>
            <a:ext cx="2276856" cy="1189922"/>
          </a:xfrm>
          <a:prstGeom prst="roundRect">
            <a:avLst/>
          </a:prstGeom>
          <a:solidFill>
            <a:srgbClr val="F6F7F9"/>
          </a:solidFill>
          <a:ln>
            <a:solidFill>
              <a:srgbClr val="D7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8EF2E5-3CB4-9D75-21C4-CBBA661BFB1B}"/>
              </a:ext>
            </a:extLst>
          </p:cNvPr>
          <p:cNvSpPr txBox="1"/>
          <p:nvPr/>
        </p:nvSpPr>
        <p:spPr>
          <a:xfrm>
            <a:off x="3211393" y="1616142"/>
            <a:ext cx="227685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DRIVER SUCCESS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6B6F38-C1AC-CC59-9283-BB66EEAE718A}"/>
              </a:ext>
            </a:extLst>
          </p:cNvPr>
          <p:cNvSpPr txBox="1"/>
          <p:nvPr/>
        </p:nvSpPr>
        <p:spPr>
          <a:xfrm>
            <a:off x="3188197" y="1927903"/>
            <a:ext cx="1553906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1E1E1E"/>
                </a:solidFill>
                <a:latin typeface="Aptos"/>
              </a:rPr>
              <a:t>86.5%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B2DA2A-1597-5AC0-A3B7-71975ABC7406}"/>
              </a:ext>
            </a:extLst>
          </p:cNvPr>
          <p:cNvSpPr txBox="1"/>
          <p:nvPr/>
        </p:nvSpPr>
        <p:spPr>
          <a:xfrm>
            <a:off x="2799941" y="2386825"/>
            <a:ext cx="22768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0" dirty="0">
                <a:solidFill>
                  <a:srgbClr val="1E1E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DRV00027</a:t>
            </a:r>
            <a:r>
              <a:rPr b="0" dirty="0">
                <a:solidFill>
                  <a:srgbClr val="1E1E1E"/>
                </a:solidFill>
                <a:latin typeface="Aptos"/>
              </a:rPr>
              <a:t>*</a:t>
            </a:r>
          </a:p>
        </p:txBody>
      </p:sp>
      <p:sp>
        <p:nvSpPr>
          <p:cNvPr id="30" name="Rounded Rectangle 12">
            <a:extLst>
              <a:ext uri="{FF2B5EF4-FFF2-40B4-BE49-F238E27FC236}">
                <a16:creationId xmlns:a16="http://schemas.microsoft.com/office/drawing/2014/main" id="{07CAFDB9-F086-76D2-C4DD-9A5EB333C2B7}"/>
              </a:ext>
            </a:extLst>
          </p:cNvPr>
          <p:cNvSpPr/>
          <p:nvPr/>
        </p:nvSpPr>
        <p:spPr>
          <a:xfrm>
            <a:off x="5733521" y="1494393"/>
            <a:ext cx="2188085" cy="1204289"/>
          </a:xfrm>
          <a:prstGeom prst="roundRect">
            <a:avLst/>
          </a:prstGeom>
          <a:solidFill>
            <a:srgbClr val="F6F7F9"/>
          </a:solidFill>
          <a:ln>
            <a:solidFill>
              <a:srgbClr val="D7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4738BD-4B06-8B2B-5A94-7BBBF792F1AD}"/>
              </a:ext>
            </a:extLst>
          </p:cNvPr>
          <p:cNvSpPr txBox="1"/>
          <p:nvPr/>
        </p:nvSpPr>
        <p:spPr>
          <a:xfrm>
            <a:off x="6162184" y="1601010"/>
            <a:ext cx="227685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VEHICLE USAGE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9E8C520-1D8E-74CF-BC44-C03C7EFA46B6}"/>
              </a:ext>
            </a:extLst>
          </p:cNvPr>
          <p:cNvSpPr txBox="1"/>
          <p:nvPr/>
        </p:nvSpPr>
        <p:spPr>
          <a:xfrm>
            <a:off x="5928361" y="1886577"/>
            <a:ext cx="1769611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1E1E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717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AB1969-81FB-2115-6AB1-C2E2D74148FB}"/>
              </a:ext>
            </a:extLst>
          </p:cNvPr>
          <p:cNvSpPr txBox="1"/>
          <p:nvPr/>
        </p:nvSpPr>
        <p:spPr>
          <a:xfrm>
            <a:off x="5644750" y="2368311"/>
            <a:ext cx="2276856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0" dirty="0">
                <a:solidFill>
                  <a:srgbClr val="1E1E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Cargo</a:t>
            </a:r>
            <a:r>
              <a:rPr sz="1600" b="0" dirty="0">
                <a:solidFill>
                  <a:srgbClr val="1E1E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Bike</a:t>
            </a:r>
          </a:p>
        </p:txBody>
      </p:sp>
      <p:sp>
        <p:nvSpPr>
          <p:cNvPr id="38" name="Rounded Rectangle 16">
            <a:extLst>
              <a:ext uri="{FF2B5EF4-FFF2-40B4-BE49-F238E27FC236}">
                <a16:creationId xmlns:a16="http://schemas.microsoft.com/office/drawing/2014/main" id="{BB6E29B4-CD31-8BC5-08D6-8D9DF78CF869}"/>
              </a:ext>
            </a:extLst>
          </p:cNvPr>
          <p:cNvSpPr/>
          <p:nvPr/>
        </p:nvSpPr>
        <p:spPr>
          <a:xfrm>
            <a:off x="8489559" y="1472678"/>
            <a:ext cx="2240447" cy="1247718"/>
          </a:xfrm>
          <a:prstGeom prst="roundRect">
            <a:avLst/>
          </a:prstGeom>
          <a:solidFill>
            <a:srgbClr val="F6F7F9"/>
          </a:solidFill>
          <a:ln>
            <a:solidFill>
              <a:srgbClr val="D7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0026274-6FF0-8DA0-EE25-934981E632F7}"/>
              </a:ext>
            </a:extLst>
          </p:cNvPr>
          <p:cNvSpPr txBox="1"/>
          <p:nvPr/>
        </p:nvSpPr>
        <p:spPr>
          <a:xfrm>
            <a:off x="9107036" y="1606467"/>
            <a:ext cx="227685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VEHICLE SUCCESS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B02C4D-9DDD-5A95-FF9C-C6A546BF8897}"/>
              </a:ext>
            </a:extLst>
          </p:cNvPr>
          <p:cNvSpPr txBox="1"/>
          <p:nvPr/>
        </p:nvSpPr>
        <p:spPr>
          <a:xfrm>
            <a:off x="8773038" y="1908795"/>
            <a:ext cx="2276856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1E1E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75.0%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70AD71-1A7C-D935-ED09-1FCA8A325EFF}"/>
              </a:ext>
            </a:extLst>
          </p:cNvPr>
          <p:cNvSpPr txBox="1"/>
          <p:nvPr/>
        </p:nvSpPr>
        <p:spPr>
          <a:xfrm>
            <a:off x="8726186" y="2428559"/>
            <a:ext cx="227685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0" dirty="0">
                <a:solidFill>
                  <a:srgbClr val="1E1E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Electric Van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460161F-58EF-9D1C-CC34-0457232258D1}"/>
              </a:ext>
            </a:extLst>
          </p:cNvPr>
          <p:cNvSpPr txBox="1"/>
          <p:nvPr/>
        </p:nvSpPr>
        <p:spPr>
          <a:xfrm>
            <a:off x="640080" y="3429000"/>
            <a:ext cx="27432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1E1E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FINDINGS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6298BAC-FD67-2B57-1D57-CD957D4DE4A3}"/>
              </a:ext>
            </a:extLst>
          </p:cNvPr>
          <p:cNvSpPr txBox="1"/>
          <p:nvPr/>
        </p:nvSpPr>
        <p:spPr>
          <a:xfrm>
            <a:off x="658368" y="3794760"/>
            <a:ext cx="521208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1E1E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Driver workload varies across the fleet.</a:t>
            </a:r>
            <a:b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sz="1600" b="0" dirty="0">
                <a:solidFill>
                  <a:srgbClr val="1E1E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The busiest driver is not necessarily the best performer.</a:t>
            </a:r>
            <a:br>
              <a:rPr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sz="1600" b="0" dirty="0">
                <a:solidFill>
                  <a:srgbClr val="1E1E1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Vehicle type affects usage and outcomes.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8D8F1B0-26B6-B0D8-EA9E-5CEF2AB01C66}"/>
              </a:ext>
            </a:extLst>
          </p:cNvPr>
          <p:cNvSpPr txBox="1"/>
          <p:nvPr/>
        </p:nvSpPr>
        <p:spPr>
          <a:xfrm>
            <a:off x="5695840" y="3439358"/>
            <a:ext cx="27432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691FAF0-D89C-5AC4-7FA4-67D442702E0F}"/>
              </a:ext>
            </a:extLst>
          </p:cNvPr>
          <p:cNvSpPr txBox="1"/>
          <p:nvPr/>
        </p:nvSpPr>
        <p:spPr>
          <a:xfrm>
            <a:off x="5764904" y="3851353"/>
            <a:ext cx="4965102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sz="1600" dirty="0"/>
              <a:t>Resource allocation should consider delivery</a:t>
            </a:r>
          </a:p>
          <a:p>
            <a:pPr algn="ctr"/>
            <a:r>
              <a:rPr lang="en-IN" sz="1600" dirty="0"/>
              <a:t>      workload, success rate and delivery duration,       rather than assigning resources based on volume alone.</a:t>
            </a:r>
            <a:endParaRPr sz="1600" b="1" dirty="0">
              <a:solidFill>
                <a:srgbClr val="1E1E1E"/>
              </a:solidFill>
              <a:latin typeface="Apto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808684" y="2387212"/>
            <a:ext cx="7007400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lang="en-IN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Areas</a:t>
            </a:r>
            <a:endParaRPr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000"/>
            </a:pP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73595" y="416554"/>
            <a:ext cx="6099600" cy="8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Delivery Problems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CC17FD-6FE2-C38C-3BAB-5BA0DD8E1DE9}"/>
              </a:ext>
            </a:extLst>
          </p:cNvPr>
          <p:cNvSpPr/>
          <p:nvPr/>
        </p:nvSpPr>
        <p:spPr>
          <a:xfrm>
            <a:off x="458797" y="1060668"/>
            <a:ext cx="10972800" cy="32004"/>
          </a:xfrm>
          <a:prstGeom prst="rect">
            <a:avLst/>
          </a:prstGeom>
          <a:solidFill>
            <a:srgbClr val="C2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179988-7207-8528-7B7F-713F8E39930E}"/>
              </a:ext>
            </a:extLst>
          </p:cNvPr>
          <p:cNvSpPr txBox="1"/>
          <p:nvPr/>
        </p:nvSpPr>
        <p:spPr>
          <a:xfrm>
            <a:off x="808684" y="1406686"/>
            <a:ext cx="27963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Operational Problems</a:t>
            </a:r>
          </a:p>
          <a:p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BE5487-D5AD-CB67-E4DB-BF907657F374}"/>
              </a:ext>
            </a:extLst>
          </p:cNvPr>
          <p:cNvSpPr txBox="1"/>
          <p:nvPr/>
        </p:nvSpPr>
        <p:spPr>
          <a:xfrm>
            <a:off x="1265274" y="1782255"/>
            <a:ext cx="7751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spcAft>
                <a:spcPts val="60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165 delivery records required more than one attempt — approximately 4.71% of delivery records.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35DF9B-78C3-F481-295E-0A6307938ECB}"/>
              </a:ext>
            </a:extLst>
          </p:cNvPr>
          <p:cNvSpPr txBox="1"/>
          <p:nvPr/>
        </p:nvSpPr>
        <p:spPr>
          <a:xfrm>
            <a:off x="1265274" y="2719529"/>
            <a:ext cx="62306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Failed deliveries, Pending deliveries, Rescheduled deliveries, Multiple delivery attempts.</a:t>
            </a:r>
          </a:p>
          <a:p>
            <a:endParaRPr lang="en-IN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98D01D-0D93-F1AD-6517-1F2B3CC67958}"/>
              </a:ext>
            </a:extLst>
          </p:cNvPr>
          <p:cNvSpPr txBox="1"/>
          <p:nvPr/>
        </p:nvSpPr>
        <p:spPr>
          <a:xfrm>
            <a:off x="627320" y="4761588"/>
            <a:ext cx="7612913" cy="641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400"/>
              </a:spcBef>
              <a:spcAft>
                <a:spcPts val="200"/>
              </a:spcAft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</a:p>
          <a:p>
            <a:r>
              <a:rPr lang="en-IN" dirty="0"/>
              <a:t>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3075BC-A9FD-A6FF-E75E-25131EBEF953}"/>
              </a:ext>
            </a:extLst>
          </p:cNvPr>
          <p:cNvSpPr txBox="1"/>
          <p:nvPr/>
        </p:nvSpPr>
        <p:spPr>
          <a:xfrm>
            <a:off x="808684" y="3355182"/>
            <a:ext cx="44331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400"/>
              </a:spcBef>
              <a:spcAft>
                <a:spcPts val="200"/>
              </a:spcAft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Zone Findings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1D75C2-47CD-3F0B-DD7E-AA7275838714}"/>
              </a:ext>
            </a:extLst>
          </p:cNvPr>
          <p:cNvSpPr txBox="1"/>
          <p:nvPr/>
        </p:nvSpPr>
        <p:spPr>
          <a:xfrm>
            <a:off x="1265274" y="3879058"/>
            <a:ext cx="82721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ZONE0019 has the highest multiple-attempt rate; ZONE0020 also shows relatively high repeated-attempt activity.</a:t>
            </a:r>
            <a:endParaRPr lang="en-IN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5361D5-E7AF-D4B6-D99A-8155F404A186}"/>
              </a:ext>
            </a:extLst>
          </p:cNvPr>
          <p:cNvSpPr txBox="1"/>
          <p:nvPr/>
        </p:nvSpPr>
        <p:spPr>
          <a:xfrm>
            <a:off x="999460" y="5263116"/>
            <a:ext cx="827213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Reducing repeated delivery attempts can reduce operational effort and improve delivery efficiency. Package weight does not show a strong relationship with delivery duration.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427656" y="416554"/>
            <a:ext cx="6099600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Lato Black"/>
              </a:rPr>
              <a:t>Overall Key Findings</a:t>
            </a:r>
            <a:endParaRPr sz="1800" b="0" i="0" u="none" strike="noStrike" cap="none" dirty="0">
              <a:solidFill>
                <a:srgbClr val="FF0000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27C6F5-2C97-B584-261F-6F2ADCE32D6E}"/>
              </a:ext>
            </a:extLst>
          </p:cNvPr>
          <p:cNvSpPr/>
          <p:nvPr/>
        </p:nvSpPr>
        <p:spPr>
          <a:xfrm>
            <a:off x="365760" y="1049274"/>
            <a:ext cx="10972800" cy="32004"/>
          </a:xfrm>
          <a:prstGeom prst="rect">
            <a:avLst/>
          </a:prstGeom>
          <a:solidFill>
            <a:srgbClr val="C2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C38787E-92E1-A679-F0A1-9C22D1102521}"/>
              </a:ext>
            </a:extLst>
          </p:cNvPr>
          <p:cNvSpPr txBox="1"/>
          <p:nvPr/>
        </p:nvSpPr>
        <p:spPr>
          <a:xfrm>
            <a:off x="822960" y="1405724"/>
            <a:ext cx="98296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DEMAND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E0E8D6C-6E2B-07F6-9441-241D5A46EB3A}"/>
              </a:ext>
            </a:extLst>
          </p:cNvPr>
          <p:cNvSpPr txBox="1"/>
          <p:nvPr/>
        </p:nvSpPr>
        <p:spPr>
          <a:xfrm>
            <a:off x="2141385" y="1397895"/>
            <a:ext cx="423866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ZONE0005 has the highest demand (240 orders).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D63EB37-4F0E-F099-56F8-3F420C1C99C8}"/>
              </a:ext>
            </a:extLst>
          </p:cNvPr>
          <p:cNvSpPr txBox="1"/>
          <p:nvPr/>
        </p:nvSpPr>
        <p:spPr>
          <a:xfrm>
            <a:off x="822960" y="2121408"/>
            <a:ext cx="10823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GROWTH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27EC12E-EDDB-8F84-8BAD-78151BE6EC81}"/>
              </a:ext>
            </a:extLst>
          </p:cNvPr>
          <p:cNvSpPr txBox="1"/>
          <p:nvPr/>
        </p:nvSpPr>
        <p:spPr>
          <a:xfrm>
            <a:off x="2141385" y="2118090"/>
            <a:ext cx="518763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 demand increased from 608 in 2022 to 1,229 in 2024.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6C1595E-E6DB-3F04-B16B-622706C14630}"/>
              </a:ext>
            </a:extLst>
          </p:cNvPr>
          <p:cNvSpPr txBox="1"/>
          <p:nvPr/>
        </p:nvSpPr>
        <p:spPr>
          <a:xfrm>
            <a:off x="822960" y="2850084"/>
            <a:ext cx="12586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6A270FA-6C70-EA4B-21F6-B4A36667C61C}"/>
              </a:ext>
            </a:extLst>
          </p:cNvPr>
          <p:cNvSpPr txBox="1"/>
          <p:nvPr/>
        </p:nvSpPr>
        <p:spPr>
          <a:xfrm>
            <a:off x="2141385" y="2800405"/>
            <a:ext cx="636103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Individual customers generate the most demand; Eric Davis has 19 orders.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AA0ADC0-15B4-A934-C07D-3ED40B39D326}"/>
              </a:ext>
            </a:extLst>
          </p:cNvPr>
          <p:cNvSpPr txBox="1"/>
          <p:nvPr/>
        </p:nvSpPr>
        <p:spPr>
          <a:xfrm>
            <a:off x="822960" y="3522949"/>
            <a:ext cx="99899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DELIVERY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31DA2F2-2990-3C76-CA37-F81DB36A4FAF}"/>
              </a:ext>
            </a:extLst>
          </p:cNvPr>
          <p:cNvSpPr txBox="1"/>
          <p:nvPr/>
        </p:nvSpPr>
        <p:spPr>
          <a:xfrm>
            <a:off x="2141385" y="3542225"/>
            <a:ext cx="601799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2,581 of 3,500 delivery records were delivered; ZONE0020 is weakest.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E089A03-B045-E8F9-2AC9-11C60B456F4A}"/>
              </a:ext>
            </a:extLst>
          </p:cNvPr>
          <p:cNvSpPr txBox="1"/>
          <p:nvPr/>
        </p:nvSpPr>
        <p:spPr>
          <a:xfrm>
            <a:off x="822960" y="4297680"/>
            <a:ext cx="11929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RESOURCES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BA0B277-0531-897D-7490-9184EB99A0D1}"/>
              </a:ext>
            </a:extLst>
          </p:cNvPr>
          <p:cNvSpPr txBox="1"/>
          <p:nvPr/>
        </p:nvSpPr>
        <p:spPr>
          <a:xfrm>
            <a:off x="2141385" y="4240796"/>
            <a:ext cx="609654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75 of 80 drivers are active; Cargo Bikes and Trucks handle high volume.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F682FFA-8349-E824-0162-B20B1807E14C}"/>
              </a:ext>
            </a:extLst>
          </p:cNvPr>
          <p:cNvSpPr txBox="1"/>
          <p:nvPr/>
        </p:nvSpPr>
        <p:spPr>
          <a:xfrm>
            <a:off x="818587" y="4990311"/>
            <a:ext cx="112723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0FD7594-ADD8-6B07-E710-225151E9A5D1}"/>
              </a:ext>
            </a:extLst>
          </p:cNvPr>
          <p:cNvSpPr txBox="1"/>
          <p:nvPr/>
        </p:nvSpPr>
        <p:spPr>
          <a:xfrm>
            <a:off x="2141385" y="4979852"/>
            <a:ext cx="610776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rgbClr val="23232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165 deliveries (4.71%) needed multiple attempts; ZONE0019 is highest.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30A272B-6DBD-9DB2-AF6F-C5B279678A73}"/>
              </a:ext>
            </a:extLst>
          </p:cNvPr>
          <p:cNvSpPr txBox="1"/>
          <p:nvPr/>
        </p:nvSpPr>
        <p:spPr>
          <a:xfrm>
            <a:off x="11279902" y="6455664"/>
            <a:ext cx="28725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767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1195011" y="1533089"/>
            <a:ext cx="7927723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Increase operational capacity in high-demand delivery zones.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Investigate the reasons behind delivery problems in ZONE0020.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Monitor failed and pending deliveries regularly using SQL-based KPIs.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Improve customer coordination to reduce repeated delivery attempts.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Balance driver assignments according to workload and performance.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Select vehicles based on route requirements and delivery demand.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Track repeat customers and use their behaviour to improve service planning.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Use historical order trends to support future capacity decisions.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594360" y="418672"/>
            <a:ext cx="6099600" cy="8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Business Recommendations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2D1E8E-8526-C1BA-75AB-982AA94C3957}"/>
              </a:ext>
            </a:extLst>
          </p:cNvPr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C2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737812" y="418672"/>
            <a:ext cx="6099600" cy="8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Conclusion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7235CC-EBEB-2B1C-EF16-9C5F74B6593E}"/>
              </a:ext>
            </a:extLst>
          </p:cNvPr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C2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0E891C-4A8A-5FF9-68BA-D856A00C6665}"/>
              </a:ext>
            </a:extLst>
          </p:cNvPr>
          <p:cNvSpPr txBox="1"/>
          <p:nvPr/>
        </p:nvSpPr>
        <p:spPr>
          <a:xfrm>
            <a:off x="1096926" y="1771316"/>
            <a:ext cx="999814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The </a:t>
            </a:r>
            <a:r>
              <a:rPr lang="en-IN" sz="1800" b="1" dirty="0"/>
              <a:t>Last-Mile Delivery Operations Analytics</a:t>
            </a:r>
            <a:r>
              <a:rPr lang="en-IN" sz="1800" dirty="0"/>
              <a:t> project demonstrates how SQL can be used to </a:t>
            </a:r>
            <a:r>
              <a:rPr lang="en-IN" sz="1800" dirty="0" err="1"/>
              <a:t>analyze</a:t>
            </a:r>
            <a:r>
              <a:rPr lang="en-IN" sz="1800" dirty="0"/>
              <a:t> large volumes of logistics data and generate meaningful operational insights.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By examining customer activity, order demand, delivery outcomes, driver workload and vehicle utilization, the project identifies important patterns and operational challenges.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r>
              <a:rPr lang="en-IN" sz="1800" dirty="0"/>
              <a:t>The analysis provides a data-driven approach for improving: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Delivery efficiency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Resource allocation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Capacity planning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Operational monitoring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/>
              <a:t>Customer service </a:t>
            </a:r>
          </a:p>
          <a:p>
            <a:pPr lvl="0"/>
            <a:endParaRPr lang="en-IN" sz="1800" dirty="0"/>
          </a:p>
          <a:p>
            <a:r>
              <a:rPr lang="en-IN" sz="1800" dirty="0"/>
              <a:t>Overall, SQL analytics helps transform delivery data into actionable information for better business decisions.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37812" y="1299172"/>
            <a:ext cx="70074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600" cy="8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Q&amp;A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A46AD4-DC3F-9499-C248-5CF85D4E5D99}"/>
              </a:ext>
            </a:extLst>
          </p:cNvPr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C2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777</TotalTime>
  <Words>1275</Words>
  <Application>Microsoft Office PowerPoint</Application>
  <PresentationFormat>Widescreen</PresentationFormat>
  <Paragraphs>236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Lato Black</vt:lpstr>
      <vt:lpstr>Libre Baskerville</vt:lpstr>
      <vt:lpstr>Calibri</vt:lpstr>
      <vt:lpstr>Wingdings</vt:lpstr>
      <vt:lpstr>Book Antiqua</vt:lpstr>
      <vt:lpstr>Arial</vt:lpstr>
      <vt:lpstr>Aptos</vt:lpstr>
      <vt:lpstr>Office Theme</vt:lpstr>
      <vt:lpstr>PowerPoint Presentation</vt:lpstr>
      <vt:lpstr>PowerPoint Presentation</vt:lpstr>
      <vt:lpstr>  Table of contents </vt:lpstr>
      <vt:lpstr>Project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Harshitha Reddy Guddeti</cp:lastModifiedBy>
  <cp:revision>2</cp:revision>
  <dcterms:created xsi:type="dcterms:W3CDTF">2021-02-16T05:19:01Z</dcterms:created>
  <dcterms:modified xsi:type="dcterms:W3CDTF">2026-08-21T17:08:27Z</dcterms:modified>
</cp:coreProperties>
</file>